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篇" id="{bd70b5a6-29da-d23d-4291-25221c47841f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战略全局（第一至三节）" id="{8b0452db-e8cc-a974-7488-167c8b0c9841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淝水战场（第四至八节）" id="{5a02a728-c1fd-f33b-c907-298a2eb658bc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决战与溃败（第九至十一节）" id="{401f240a-fcc0-1f82-1fa2-45ee0172629b}">
          <p14:sldIdLst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战后（第十二、十三节）" id="{3c05d02e-fca4-fb92-0ab3-a2305f5544bc}">
          <p14:sldIdLst>
            <p14:sldId id="285"/>
            <p14:sldId id="286"/>
            <p14:sldId id="287"/>
            <p14:sldId id="288"/>
          </p14:sldIdLst>
        </p14:section>
        <p14:section name="结语" id="{49ffd5ff-578e-1ad4-990a-0d7072b6aa56}">
          <p14:sldIdLst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白：公元383年，前秦天王苻坚号称百万南下，东晋以八万之众迎战，最终在寿阳城北的淝水边以少胜多。这场战争留下了“投鞭断流”“草木皆兵”“风声鹤唳”三个成语，也决定了此后两百年南北分立的格局。
今天跟着这座三维沙盘，按十三个时间节点，把两军的路线和战场态势变化从头看一遍。封面这一幕是第九节“临淝对峙”：右上方朱红色是东晋军，左下方靛蓝色是前秦军，中间隔着淝水，近处的城池就是寿阳。
讲解方法：每一节先看沙盘画面，再讲故事、读原文。沙盘按 1× 速度全程约三分三十五秒，可以随时按空格暂停。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这份讲解与沙盘配合使用。沙盘从第一节“投鞭断流”开始自动播放，十三个时间节点连续放完约三分三十五秒。
建议的讲法：每到一节，先翻到这一节的“画面与节拍”页——页面底部写着本节在沙盘上的起止时间，以及每个关键画面出现在本节第几秒，观众可以对照屏幕上的箭头和标注；沙盘放完这一节后按空格暂停，再翻到“故事与原文”页，把经过讲清楚，必要时读一两句原文。
如果现场节奏偏快，可以把沙盘右下角的速度改成 0.5×，此时页面上的秒数都要乘以二。也可以用键盘左右方向键直接跳到某一节，沙盘会立即切到该节开头。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先教观众读图，后面跟节奏就容易了。
颜色：朱红是东晋，靛蓝是前秦，整场都不变。每一部人马立着一面写着主将姓名的牙旗，例如“苻融”“谢玄”“刘”（刘牢之）。主将阵亡时，牙旗会倒在他战死的地方——第七节梁成、第十节苻融都会看到。
箭头：实心箭头是进军，会随着时间一点点延伸出来；断续的虚线箭头是撤退或溃逃；箭身中间有白线的是舟师（水军），沿淮河、淝水走；金色点线是使者和信使，比如第六节胡彬的告急使者；空心虚线是“计划/意图”，最典型的是第九节苻坚“半渡而击”的设想——它只是计划，并没有真正发生。
标注：圆环表示交战，菱形表示阵亡，红色印章标出成语出处（投鞭断流、草木皆兵、风声鹤唳），对白气泡是人物原话。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沙盘分成两张“台面”。
左边是战略全局沙盘，东西约1260公里，从关中的长安一直到江东的建康。第一到第三节（起因、动员、集结）和第十二、十三节（捷报、战后）在这张台面上演示。看这张图要注意三个城市：项城（苻坚驻跸处）、寿阳（前线）、建康（东晋都城）。
右边是淝水战场沙盘，东西约82公里，范围是寿阳周边：西面的颍口、城北的八公山、西北淮河峡口的硖石、东面的洛涧。第四到第十一节在这里演示，第三节结尾镜头会从全局俯冲下来切换到这里。
两张台面的地形都来自真实高程数据，为了看清起伏做了垂直放大。水系按东晋时的样子改绘：黄河走东汉以来的故道，淮河独流入海，海岸线比今天靠西；寿县附近的瓦埠湖等后来才形成的湖泊，画成低洼湿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这张表是整场的“节目单”。史书日期按东晋太元八年历日换算：十月初一是丙辰日，十一月初一是丙戌日，换成儒略历公历。寿阳陷落的十月癸酉，就是公元383年11月28日。
“沙盘时间”是从第一节开始按 1× 速度连续播放时的时刻，全程三分三十五秒。前三节和最后两节在“全局沙盘”上（长安到建康），中间第四到第十一节切换到“淝水战场沙盘”（寿阳一带），切换时画面会从全局俯冲到寿阳。
第十节的日期有两说：《资治通鉴》放在十一月，《晋书·孝武帝纪》写作“十月乙亥”，即11月30日。沙盘和本讲解采用《通鉴》，同时列出异说，后面“考证与存疑”一页会再说明。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两边的主角先认一认，沙盘牙旗上写的就是这些名字。
前秦：苻坚（fú jiān）亲征；他的弟弟阳平公苻融督前锋，是前线实际的指挥者，后来战死淝水。张蚝是骁将。梁成屯驻洛涧，被刘牢之夜袭斩杀。慕容垂是前燕宗室、姚苌是羌人首领，二人都在秦军中，战后分别复建燕国（后燕）、建立后秦——这条伏线贯穿到最后一节。朱序原是东晋守襄阳的将领，被俘后在秦为官，这次却暗中帮了晋军。
东晋：谢安坐镇建康，谢石是名义上的征讨大都督（《通鉴》），真正冲在前面的是侄子谢玄和他的北府兵，北府猛将刘牢之打了洛涧这一仗；谢安之子谢琰、西中郎将桓伊与谢玄一起渡淝水。胡彬带五千水军去救寿阳，没赶上，退守硖石。桓冲在荆州牵制西线，开场第一节就会看到他攻襄阳。
注：《晋书·谢安传》说“加安征讨大都督”，《通鉴》则以谢石为征讨大都督，此处从《通鉴》。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史书记载的兵力对比极其悬殊：前秦“戎卒六十余万，骑二十七万”，合计八十七万以上，还不算三万多名良家子组成的羽林郎；东晋迎战的谢石、谢玄等只有八万（《晋书·苻坚载记》作水陆七万），加上胡彬的五千水军。沙盘第二、三节的面板上用小人图表示这个比例，每个小人代表一万人。
但要提醒观众：这是全国动员的总数，并不是淝水岸边的兵力。苻坚到项城后，把大军留在那里，自己只带八千轻骑赶去寿阳；凉州兵刚到咸阳，蜀、汉兵还在长江上游顺流而下，幽、冀兵到了彭城。真正在寿阳一带与晋军对阵的，是苻融的前锋诸军。史书没有留下确数，沙盘上标作“十余万”只是概数示意。这也是理解后面战局的关键：晋军要做的，是在秦军各路集结之前，把前锋打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0:00–0:15】按播放键后，镜头从高处降到全局沙盘上，故事开始。
请观众先找到左上方的长安：第1秒，长安旁弹出红色印章“投鞭断流”和苻坚的原话。接着看南面的襄阳：第3秒，一支红色箭头从长江边向北伸向襄阳，这是东晋荆州刺史桓冲率众十万进攻襄阳；第6秒，蓝色箭头从洛阳方向南下，是苻叡、慕容垂率步骑五万来救；第7秒襄阳出现交战标记；第9秒，红色虚线折回南方——桓冲退还上明。
这一节的意思是：南征尚未开始，两国已在襄阳先过了一招。画面右边的建康、广陵已经立着谢安、谢玄的牙旗。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读音：苻 fú，淝 féi，叡 ruì。
这一节交代战争的起因。苻坚在382年冬的太极殿会议上估算“可得九十七万”兵力，决意亲征；反对者很多——权翼说晋“君臣辑睦，内外同心”，石越说晋“据长江之险”。苻坚那句“投鞭于江，足断其流”，《晋书·苻坚载记》作“以吾之众旅，投鞭于江，足断其流”，沙盘上长安旁的印章引的就是《晋书》这一句。
苻融的劝谏值得一提：他说伐晋有三难——天道不顺、晋国无衅、我军数战兵疲；又说陛下宠育鲜卑、羌、羯，布满京畿，太子只带弱卒数万留守，恐生肘腋之变。这番话后来几乎句句应验。
383年夏天的襄阳之战是正式南征前的一次交锋：桓冲攻襄阳，慕容垂夜里让士兵把十支火把绑在树枝上，火光照耀数十里，虚张声势，桓冲退回上明。沙盘上这一段就是开场的红色箭头与随后的红色虚线。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0:15–0:30】画面移到关中与中原之间。
第0秒，长安弹出“八月戊午”卡片：苻融督张蚝、慕容垂等步骑二十五万为前锋，一支蓝色箭头向东伸出。第5秒，“八月甲子”：苻坚本人从长安出发，更粗的一支蓝色箭头沿渭河—黄河一线东进，标签写着“前后千里”。第6秒，慕容垂所部向南分出，日后去攻郧城。第12秒，前锋过洛阳后折向东南，目标颍口。
面板上的小人图表示兵力：前秦八十七万对东晋八万，每个小人一万人。可以在这里暂停，让观众感受一下这个差距。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这一节是总动员。注意两个日期：戊午（9月14日）前锋先出，甲子（9月20日）苻坚本人从长安出发，相隔六天。沙盘上长安先后弹出“八月戊午”“八月甲子”两张卡片，两条蓝色箭头一前一后向东延伸。
动员的规模：每十个成年男子出一个兵，又招来三万多骑良家子弟当羽林郎。苻坚甚至预先许诺，攻下建康后让晋孝武帝司马昌明当尚书左仆射、谢安当吏部尚书、桓冲当侍中，“势还不远，可先为起第”——可见他的自信。
伏笔：慕容垂的两个侄子私下对他说，“叔父建中兴之业，在此行也”，慕容垂答“非汝，谁与成之”。慕容垂和姚苌是这次南征最积极的支持者，而战后复国、自立的也正是他们两人。还有一个插曲：苻坚任命姚苌为龙骧将军时说“昔朕以龙骧建业，未尝轻以授人”，左将军窦冲当场说“王者无戏言，此不祥之征也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0:30–0:47】这是全局沙盘最热闹的一节，可以放慢速度或暂停讲。
第1秒，漕运船队从黄河经石门南下（“运漕万艘”）。第2秒，三路秦军同时出现在途中：凉州兵刚到咸阳，蜀汉兵沿长江顺流而下（舟师箭头），幽冀兵到了彭城；同时建康弹出“围棋赌墅”——谢安在下棋。第5秒，红色箭头登场：谢玄从广陵西进、谢石北上，胡彬五千水军沿淮河去救寿阳。第6秒，项城弹出“九月坚至项城”：谚曰“坚不出项”，群臣劝苻坚留在项城，他不听。第8秒起，一支空心虚线从荆州上明伸向建康，那是桓冲派来入卫的三千精兵——第12秒弹出“谢安却之”，这支兵并没有真的到建康。
本节末尾，镜头从全局俯冲到寿阳，台面切换为淝水战场。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节是全局沙盘上最“满”的画面：秦军从西、北、东北三个方向分路南下，漕船从黄河入石门、经汝颍运粮；晋军则从广陵、建康北上。请观众注意秦军之“散”：苻坚本人到了项城，可凉州兵刚到咸阳，蜀汉兵还在长江上游，幽冀兵在彭城——号称百万，却远未集结。
项城有一个小插曲：当时有谚语说“坚不出项”，群臣劝苻坚就停在项城坐镇，苻坚不听（见《晋书·苻坚载记》），后来他轻骑赶往寿阳。
东晋这边：任命谢石、谢玄等八万人迎战，胡彬五千水军去救寿阳。谢安的镇定是这一节的看点：谢玄来问计，他只说“已别有旨”；谢玄让张玄再去问，谢安干脆驾车去山中别墅，与谢玄下棋，以别墅为赌注。谢安棋艺平时不如谢玄，这天谢玄心里惧怕，反而输了。荆州桓冲派三千精兵来保卫京城，被谢安退回；桓冲对僚佐叹息“吾其左衽矣”，意思是我们恐怕要做胡人的臣民了。
本节结尾，镜头从全局沙盘俯冲到寿阳，切换到淝水战场沙盘。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0:47–1:02】台面已切换为淝水战场。先帮观众定位：画面中央偏右的方城是寿阳，城北是淝水，再往北的山地是八公山；左上角淮河穿山而过的地方是硖石。
第0秒，红色舟师箭头沿淮河西上——胡彬五千水军赶来援救寿阳。第2秒，蓝色箭头从西南的颍口方向渡淮东进，苻融前锋直扑寿阳。第8秒，“攻寿阳”标记出现，城下有攻城的烟火。第11秒，“十月癸酉 寿阳陷落”，城头旗帜由红转蓝；同时胡彬的舟师掉头退往硖石，第12秒苻融分兵进攻硖石。
讲解要点：晋军援兵晚到一步，寿阳一失，秦军就在淮南有了立足点，胡彬被困在硖石。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读音：硖 xiá，郧 yún，颍 yǐng。
从这一节起换到“淝水战场沙盘”，范围约82×49公里：西边是颍口（颍水入淮处），中间是寿阳城和城北的八公山，西北是淮河穿山而过的硖石，东边是洛涧。
寿阳是这场战争的焦点。它就是寿春，东晋为避讳改称寿阳；城北临淝水，淝水绕城向西北流入淮河，入淮处叫肥口。苻融的前锋从颍口渡淮东进，十月癸酉（公历11月28日）攻克寿阳，晋将徐元喜被俘，苻融让参军郭褒当了淮南太守。胡彬带五千水军赶来时城已陷落，只好退到硖石固守，秦军随即围攻硖石。
沙盘上请留意：寿阳城头的旗帜在本节由红变蓝，城下有攻城的烟火；胡彬的红色舟师箭头折返硖石。同一个月，西线的慕容垂攻下了郧城（今湖北京山一带），所以决战时他的三万人不在淝水，这一点到第十二节会再提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1:02–1:16】镜头移到寿阳以东的洛涧。
第1秒，一支蓝色箭头从寿阳向东延伸：梁成率五万人东进，在洛涧西岸扎下圆形营垒。第4秒，东面的红色箭头到达：谢石、谢玄的晋军在洛涧以东二十五里扎营；第5秒，晋军舟师沿淮河上来，被挡在木栅前。第8秒，洛口附近弹出“栅淮以遏东兵”，淮河上出现一排木栅；第9秒，晋营弹出“惮成不敢进”。
讲解要点：这是一个僵局——晋军被挡在洛涧以东，硖石的胡彬与大军隔绝。打破僵局的，是下一节截获的一封信和一位秦营中的“内应”。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读音：涧 jiàn，弋阳 yì yáng，惮 dàn。
洛涧是淮河南岸的一条支流，即今天的窑河—洛河，入淮处叫洛口，在寿阳以东约四十公里。梁成在这里扎下五万人的营垒，又沿淮河打下木栅。这一招很要紧：东晋援军从广陵方向来，水军要沿淮河逆流西上，步骑要沿淮南岸西进，洛涧和淮栅正好把这两条路都卡住了；同时，被围在硖石的胡彬也因此与大军隔绝。
晋军走到离洛涧二十五里的地方就停下扎营，“惮成不敢进”。二十五里按晋代一里约四百三十五米计算，大约十一公里，沙盘上的晋军大营就是按这个距离示意摆放的，确切营址史书没有记载。
兵力上有个小出入：《通鉴》和《晋书·苻坚载记》都说梁成有五万人，《晋书·刘牢之传》则说“梁成又以二万人屯洛涧”。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1:16–1:33】镜头拉远，能同时看到硖石、寿阳和东面的晋营——这一节的主角是几条金色点线（使者与信使）。
第0秒，硖石弹出“粮尽 · 扬沙示敌”。第1秒，一条金色点线从硖石出发向东，是胡彬派去向谢石告急的使者；第3秒，它在半路被截住，弹出“使者为秦军所获”，信中写着“今贼盛，粮尽，恐不复见大军”。第2秒，另一条金色点线从寿阳向西：苻融派快马去项城报信，“贼少易擒”。第4秒，蓝色箭头从西边赶来——苻坚丢下大军，只带八千轻骑兼程赶到寿阳；第7秒，寿阳城旁弹出苻坚的命令“敢言吾至寿春者拔舌”。第10秒，又一条金色点线从寿阳伸向晋营：朱序奉命去劝降；第14秒，晋营弹出朱序私下对谢石说的话：“今乘诸军未集，宜速击之”。
讲解要点：同一封截获的信，让苻坚轻敌冒进；同一次劝降，却让晋军得到了秦军的底细。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这一节是战局的转折，信息全靠“信使”在跑，沙盘上用金色点线表示。
先是胡彬：硖石粮尽，《晋书》说他“诈扬沙以示融军”，把沙子当粮食扬给秦军看，同时派人去给谢石送信：“今贼盛粮尽，恐不复见大军！”——意思是再不来，就见不到我了。这封信落到了秦军手里。
苻融看了信，判断晋军兵少粮尽，派快马去项城报告苻坚：“贼少易擒，但恐逃去，宜速赴之！”苻坚于是丢下项城的大军，只带八千轻骑日夜兼程赶到寿阳，并下令谁敢说出他到了寿春就割掉舌头，想打晋军一个措手不及。胡三省在这里评论：苻融本来是最反对伐晋的人，临阵却如此轻率，真是“天夺其鉴”。
关键人物朱序：他原是东晋守襄阳的将领，被俘后在前秦做尚书。苻坚派他去晋营劝降，他却私下把秦军底细告诉谢石：百万大军若真到齐就难打了，现在诸军未集，应当速战，打垮其前锋，秦军就会丧失斗志。谢石本想坚守，谢琰劝他听朱序的。这一策决定了下一节的洛涧夜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1:33–1:50】画面转为夜景，镜头贴近洛涧。
第1秒，红色箭头从东面的晋营出发，刘牢之的五千精兵举着火把奔袭洛涧。第5秒，箭头标出“直前渡水”——他们不停顿，直接涉过洛涧；第6秒，另一支红色箭头绕到秦军背后，标注“分兵断其归津”，同时出现“洛涧之战”交战标记，梁成营垒起火。第9秒，弹出“斩梁成、王咏”，梁成的蓝色牙旗倒在地上；秦军的蓝色虚线箭头向北逃往淮河，第12秒弹出“争赴淮水：士卒死者万五千人”。
讲解要点：以五千破五万，秦军前锋第一次被打垮，正应了朱序“若败其前锋，则彼已夺气”。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读音：牢 láo，咏 yǒng，趣 qū（奔赴）。
这是淝水之战的前哨战，也是整场战争第一次真正的胜仗。刘牢之是北府兵的猛将，《晋书·刘牢之传》说谢玄镇广陵时招募骁勇，以刘牢之为参军，“领精锐为前锋，百战百胜，号为北府兵，敌人畏之”。
过程很干脆：离洛涧十里时，梁成已背靠洛涧摆好阵势；刘牢之不等不停，直接涉水冲过去，阵斩梁成（《晋书·谢玄传》说连梁成的弟弟梁云也被斩），同时分出一支兵马抄到后面，截断秦军退往淮河渡口的路。秦军前后受敌，崩溃后争着往淮河里逃，死了一万五千人。
沙盘这一节是夜景：火把、营火、梁成营垒起火。注意梁成那面蓝色牙旗在他战死时倒在地上。这一仗证明了朱序的判断——“若败其前锋，则彼已夺气”。晋军由此水陆并进，向寿阳逼近。
兵力异说：《刘牢之传》说梁成只有二万人，《通鉴》和《苻坚载记》作五万；杀获之数，《刘牢之传》作“万余人”。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1:50–2:08】这一节有全场最“有画面感”的成语。
第0秒，红色箭头从洛涧方向一路西进：晋军步骑沿淮南岸推进，舟师沿淮河上溯，最后屯在八公山下、淝水北岸。第7秒，蓝色箭头标出“张蚝败谢石于肥南”，同时围攻硖石的秦军撤回淝水；第9秒，肥南交战标记：谢玄、谢琰列阵数万相待，张蚝退回。第11秒，八公山上的树丛化作一个个淡色人形，红色印章“草木皆兵”出现；第12秒，两道视线从寿阳城头射向八公山——苻坚和苻融在城上北望；第13秒，弹出苻坚的原话“此亦勍敌，何谓弱也！”本节最后，镜头转到寿阳城头，像苻坚一样抬头北望八公山。
可以在这里暂停，请观众看一看山上的“人形”，再讲《晋书》“草木皆类人形”的原文。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读音：勍 qíng（胡注“渠京翻”），怃 wǔ（胡注“罔甫翻”）。
“草木皆兵”是这场战争留下的第一个名场面。苻坚与苻融登上寿阳城，向北望去：晋军阵容严整；再往北看八公山，山上的草木在他眼里都像是晋兵。他回头对苻融说“此亦勍敌，何谓弱也”，意思是这也是强敌啊，怎么能说它弱呢——可见他此前一直认定晋军弱小。《晋书·苻坚载记》的说法更形象：“又北望八公山上草木，皆类人形”，并说朝廷事先曾向钟山之神求助，“及坚之见草木状人，若有力焉”。
沙盘上的表现：八公山上的树丛化作一个个淡色的“人形”，城头到山上有两道视线，随后弹出苻坚的原话；本节末尾镜头转到寿阳城头，像苻坚一样向北眺望。
北魏郦道元在《水经注》里写到这里：“坚望山上草木，咸为人状，此即坚战败处。非八公之灵有助，盖苻氏将亡之惑也。”——不是神灵相助，而是败亡前的心虚。
同一节里还有一场小战：张蚝在淝水南岸击败谢石，谢玄、谢琰列阵相待，张蚝才退回去沿淝水列阵（见《晋书·苻坚载记》），秦军也撤除了对硖石的包围，回守淝水。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2:08–2:24】镜头压低，贴近淝水两岸——这是决战前最后一刻的静态画面。
北岸（画面上方）是朱红色的晋军，牙旗上写着谢琰、谢玄、桓伊；南岸（画面下方）是靛蓝色的秦军，寿阳城里立着苻坚的金色大旗，城外有张蚝、秦军铁骑和围硖石回撤的部队。
第2秒，一条金色点线从北岸跨过淝水：谢玄的使者请秦军“移陈少却”。第6秒，秦军阵中弹出诸将的意见“我众彼寡，不如遏之，使不得上，可以万全”。第9秒，一支空心虚线箭头出现在秦阵前，标注“苻坚之计：半渡而击”——这只是计划。第10秒，苻坚的原话弹出：“但引兵少却，使之半渡，我以铁骑蹙而杀之，蔑不胜矣！”
建议在本节结束时暂停，问观众：如果你是苻融，会不会下令后撤？然后进入下一节。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读音：陈 zhèn（同“阵”），少 shǎo（胡注“诗沼翻”），蹙 cù，蔑 miè。
两军隔着淝水对峙：秦军在南岸（寿阳一侧）紧靠河岸列阵，晋军在北岸，过不了河。沙盘上能清楚看到红蓝两条阵线隔水相对，牙旗林立。
谢玄这一招是激将：你们靠着河摆阵，说明不想速战；有本事退后一点，让我们渡过来，痛快地决一胜负。秦军诸将的意见其实是对的——“我众彼寡，不如遏之”，守住河岸就能拖垮晋军。苻坚却想得更“妙”：假装后退，等晋军渡到一半，再用铁骑冲杀，这是兵法里常说的“半渡而击”。苻融也同意，于是下令后撤。
沙盘上的空心虚线箭头就是苻坚这个“计划”——它只存在于苻坚的设想里。请观众记住此刻秦军的阵势，下一节开头，秦军一后撤就收不住了。
《晋书·谢玄传》里谢玄的话更带挑衅：“诸君稍却，令将士得周旋，仆与诸君缓辔而观之，不亦乐乎！”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2:24–2:44】全场的高潮，也是最长的一节（20秒），建议用 0.5× 速度播放，或分两段讲。
第1秒，秦军阵前出现两支后撤箭头，标注“麾兵使却”——苻融按苻坚的计划下令后撤。第3秒，北岸三支红色箭头同时渡河：谢玄、谢琰、桓伊率精锐八千涉渡淝水。第6秒，秦阵后方弹出朱序的大喊“秦兵败矣！”，蓝色阵线由整齐后退变为散乱，粗大的蓝色虚线“秦兵遂退，不可复止”向西南延伸。第7秒，淝水南出现“决战淝水南”交战标记。第9秒，“苻融战死”：他的牙旗倒在寿阳城西北的阵地上。第12秒，“肥水为之不流”，淝水这一段颜色变暗；苻坚的金色大旗旁弹出“苻坚中流矢”，红色箭头开始追击。
讲解要点：“半渡而击”变成了“未渡先溃”，从后撤到全线崩溃只用了很短的时间。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读音：帅，胡注“读曰率”（shuài），统领、约束之意；蹈藉 dǎo jiè。
决战本身来得极快，这也是沙盘上最长的一节（20秒）。顺序是：
一、秦军奉命后撤——本想诱敌半渡；
二、晋军精锐八千趁机涉渡淝水，谢玄、谢琰、桓伊三路过河；
三、朱序在秦军阵后大喊“秦兵败矣”，后撤立刻变成溃逃；
四、苻融骑马在阵前奔走，想拦住退兵，马倒被杀——沙盘上他的蓝色牙旗倒在地上；
五、秦军全线崩溃，落水者无数，“肥水为之不流”，沙盘上淝水这一段颜色变暗。
《晋书·谢玄传》还写到谢石的部队抵挡张蚝时一度“小退”，谢玄、谢琰仍然前进，在淝水之南决战。苻坚也中了流矢。
日期问题：《通鉴》把这一仗系于十一月；《晋书·孝武帝纪》作“十月乙亥”，即公历383年11月30日，中华书局点校本校勘记认为《通鉴》的说法“较合当时情事”。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2:44–3:02】光线转为黄昏，镜头拉远，看溃逃的全景。
第2秒，一条蓝色虚线从寿阳向西北越过淮河：苻坚中了流矢，单骑逃到淮北。第3秒，红色印章“风声鹤唳”出现，画面上一阵阵风线掠过溃兵，白色的鹤群在溃兵头顶飞过——溃兵听到风声鹤唳，都以为晋兵追到。第4秒，“朱序等来奔”：朱序与张天锡、徐元喜趁乱归晋；第5秒，“获云母车”：苻坚乘坐的云母车被缴获。第10秒，寿阳城头的旗帜重新变红，“复取寿阳，执淮南太守郭褒”。第11秒，红色追击箭头抵达青冈，“秦兵自相蹈藉而死者，蔽野塞川”。
提示观众：青冈的确切位置史书没有记载，沙盘按秦军向西逃往颍口的方向示意，地名后标了“约”。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读音：唳 lì，飧 sūn，髀 bì，重 zhòng（胡注“直用翻”，加上之意）。
“风声鹤唳”是第二个成语。溃逃的秦兵听到风声、鹤叫，都以为晋军追来了，不敢走大路，钻草丛走；不敢进人家，在野外露宿；又冷又饿，死了十之七八。胡三省把“草行露宿”解释得很细：涉草而行，不敢由路；宿于野次，不敢入人家，都是因为害怕追兵。
沙盘上这一节是黄昏光线：一阵阵风线掠过溃兵，鹤群在空中飞过，“风声鹤唳”的印章出现；晋军的红色箭头一路追到青冈（青冈确址无考，图中按秦军西奔颍口的方向示意）。
苻坚的结局：中流矢后单骑逃到淮北，饿得厉害，有百姓送来饭和猪腿，苻坚吃完要赏帛十匹、绵十斤，那人推辞说“陛下厌苦安乐，自取危困……安有子饲其父而求报乎”，头也不回地走了。苻坚对张夫人说“吾今复何面目治天下乎”，潸然流涕。
朱序和前凉降主张天锡、被俘的晋将徐元喜都趁乱回到东晋；晋军缴获苻坚乘坐的云母车，收复寿阳，抓住了秦任命的淮南太守郭褒。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3:02–3:17】画面从战场回到全局沙盘。
第0秒，一条金色点线从寿阳出发，沿淮南一路东去，把捷报送到建康。第3秒，郧城弹出“唯慕容垂一军独全”，一支蓝色虚线从郧城北上——秦军诸部皆溃，只有不在淝水的慕容垂三万人完好，苻坚带着千余骑投奔他。第4秒，建康弹出谢安的“小儿辈遂已破贼”，卡片上写着他看完驿书照旧下棋、过门槛折断屐齿的故事；同时蓝色虚线从项城一带撤向洛阳，标注“收集离散 至洛阳众十余万”；第5秒，红色虚线是谢石等班师建康。第9秒起，蓝色虚线再从洛阳西返，第13秒长安弹出“十二月 坚至长安：哭阳平公融而后入”。
讲解要点：东晋转危为安，而前秦这边，危机才刚刚开始——慕容垂带着完整的三万人，正是下一节的伏笔。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读音：屐 jī，摄 shè（收起）。
画面回到全局沙盘，一条金色点线从寿阳出发，把捷报送往建康。谢安的反应是这一节的看点：收到信，看完放在床上，照样下棋；客人问，他才淡淡地说“小儿辈遂已破贼”——孩子们已经把贼打败了。等棋局结束回内室，过门槛时木屐的齿撞断了都没察觉。《晋书·谢安传》说“心喜甚，不觉屐齿之折，其矫情镇物如此”；胡三省则替谢安辩护：大敌压境，一战而破，怎能不喜，屐齿之折也不必苛责。
秦军这边：诸军皆溃，只有慕容垂的三万人完整，因为他去打郧城，没参加淝水之战。苻坚带着一千多骑投奔慕容垂。慕容垂的儿子慕容宝、弟弟慕容德等人都劝他趁机杀掉苻坚复兴燕国，慕容垂说苻坚待我以国士，“此恩何可忘也”，把兵权交还苻坚。苻坚收拢散兵，到洛阳时又有了十余万人；十二月回到长安，先哭祭战死的弟弟苻融，谥为哀公。
沙盘上可以看到三条蓝色虚线向北、向西撤回，谢石等人的红色虚线班师建康。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【沙盘 3:17–3:35】尾声，黄昏光线，镜头拉到能看见关中、中原和江淮的高度。
第1秒，两支新箭头同时出现：黑色箭头从中原向东北伸向邺城，那是慕容垂脱离前秦、复建燕国；红色箭头从淮河向北，是谢玄北伐。第2秒，关中的另一支黑色箭头：姚苌自立。黑色表示从前秦分裂出去的新势力。第5秒到第13秒，请观众留意地面上的疆界线：东晋的疆域从淮河一线向北推到黄河。第7秒起依次弹出“后秦：384年，姚苌于渭北自称万年秦王”“后燕：384年正月，慕容垂自称燕王，进围邺城”“东晋北伐：谢玄收复兖、青、司、豫诸州，兵锋抵于黄河”。第13秒，长安西北的新平弹出“385年八月：苻坚为姚苌缢杀于新平佛寺”。
收尾：沙盘播放到此结束。可以回到第一节，提醒观众王猛临终那句“鲜卑、羌虏，我之仇也”，与这一节的画面对照。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读音：苌 cháng，荥阳 xíng yáng，邺 yè，缢 yì。
尾声把时间拉长到战后两年。最值得讲的是王猛的遗言：375年王猛临终，劝苻坚不要以东晋为攻伐目标，而要逐步除掉鲜卑、羌人这两股势力。苻坚两条都没听——他伐了晋，又重用慕容垂（鲜卑）和姚苌（羌）。淝水一败，正是这两个人分别复燕、建秦。
沙盘上的变化：黑色箭头表示从前秦分裂出去的势力——慕容垂东去，384年正月在荥阳称燕王，率众二十余万自石门渡过黄河进逼邺城（后燕）；姚苌在渭北称万年秦王（后秦）。红色箭头是谢玄北伐，收复兖、青、司、豫诸州，兵锋抵达黄河。同时，全局沙盘上两条疆界线推移：383年的南北边界向北推到黄河一线（385年）。最后，385年苻坚在新平被姚苌缢杀。
收尾可以说：北方再度分裂，到439年才由北魏重新统一；南北对峙的格局一直延续到589年隋灭陈。淝水一战，决定了此后两百年的南北大势。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沙盘上用红色印章标出了三个成语，正好串起整场战争的情绪曲线：开战前的狂妄（投鞭断流），临战时的心虚（草木皆兵），战败后的惊恐（风声鹤唳）。
投鞭断流：苻坚在太极殿上说，我有这么多兵，大家把马鞭投进长江，就能让江水断流，长江天险何足依恃。《通鉴》作“以吾之众，投鞭于江，足断其流”，《晋书》作“众旅”。
草木皆兵：苻坚登寿阳城望见八公山上的草木，都像晋兵。《通鉴》作“皆以为晋兵”，《晋书》作“皆类人形”。
风声鹤唳：溃逃的秦兵听见风声鹤叫，都以为晋兵追到。
另外，谢安“小儿辈遂已破贼”、看完捷报照旧下棋的故事，也常被用来形容临大事而镇定自若。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看完十三节，可以带观众回头想一想：八万人为什么能打败号称八十七万的大军？史书本身给出了几条线索，这一页只列能在原文中找到依据的。
第一，秦军虽多，却分散在“东西万里”的路上，苻坚自己也把大军留在项城，只带八千轻骑赶到前线。朱序看穿了这一点，建议晋军趁其未集速战。
第二，洛涧之战先打掉了秦军的锐气——五千破五万，主将梁成战死。苻坚登城望见晋军阵容和八公山草木时，已经心生惧意。
第三，决战时苻坚“半渡而击”的设想，让庞大的军阵在敌前后撤；朱序在阵后一喊，撤退就变成了崩溃，苻融阵亡更使局面无法挽回。
第四，晋军的核心是谢玄在广陵组建的北府兵，刘牢之等人“百战百胜”，洛涧夜袭和渡淝决战都由这支部队打头阵。
此外，苻融在战前就警告过鲜卑、羌人“常思风尘之变”，秦军内部人心不齐，也是常被提到的背景。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如果观众追问“沙盘上的东西哪些是确定的”，可以用这一页回答。
确定的：主要事件的先后、人物言语、寿阳、八公山、硖石、洛涧、颍口这些地点（据《水经注》和胡三省注可以落到今地）；日期按东晋历日换算，寿阳陷落是公历383年11月28日。
有异说的：决战日期（十一月或十月乙亥）、梁成兵力（五万或二万）、晋军人数（八万或七万）。
推定示意的：青冈的方位、晋军大营的位置、各部的营垒形状和行军路线、兵俑数量。沙盘上凡是加了“约”字的地名，都是这种情况。
版本：本讲解引《资治通鉴》用胡三省注本，与沙盘界面上个别引文用字可能略有出入（如“勍敌”或作“劲敌”），属版本差异。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史料以《资治通鉴》卷一〇五为主干，这一卷把淝水之战从备战到战后写得最完整；《晋书》的《苻坚载记》《谢安传》《谢玄传》《刘牢之传》补充了不少细节，如胡彬扬沙示敌、“敢言吾至寿春者拔舌”、“草木皆类人形”、北府兵的来历；地名考证主要依据郦道元《水经注·肥水》和胡三省的《通鉴》注。
沙盘本身是一个网页文件（仓库中的 docs/index.html），双击就能在浏览器里离线打开，需要支持 WebGL 2 的浏览器。地形用真实高程数据制作，水系按东晋时期改绘：黄河走东汉以来的故道，淮河独流入海，海岸线比今天靠西。
讲解结束后，可以请观众自己拖动沙盘，从任意角度再看一遍，或打开右上角的“地名索引”对照古今地名。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902" y="4480560"/>
            <a:ext cx="841248" cy="8412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812902" y="448056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淝</a:t>
            </a:r>
            <a:endParaRPr lang="zh-CN" sz="26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水</a:t>
            </a:r>
            <a:endParaRPr lang="zh-CN" sz="26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883664" y="4370832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6600" spc="800" kern="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defRPr>
            </a:lvl1pPr>
          </a:lstStyle>
          <a:p>
            <a:pPr algn="l" indent="0" marL="0">
              <a:buNone/>
            </a:pPr>
            <a:endParaRPr lang="zh-CN" sz="66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1883664" y="5340096"/>
            <a:ext cx="868680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500" spc="300" kern="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zh-CN" sz="15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12902" y="5870448"/>
            <a:ext cx="1056589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zh-CN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EW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zh-CN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defRPr>
            </a:lvl1pPr>
          </a:lstStyle>
          <a:p>
            <a:pPr algn="l" indent="0" marL="0">
              <a:buNone/>
            </a:pPr>
            <a:endParaRPr lang="zh-CN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zh-CN" sz="1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zh-CN" sz="1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OR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06794" y="1737360"/>
            <a:ext cx="4572000" cy="422452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7059168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spc="600" kern="0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zh-CN" sz="12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defRPr>
            </a:lvl1pPr>
          </a:lstStyle>
          <a:p>
            <a:pPr algn="l" indent="0" marL="0">
              <a:buNone/>
            </a:pPr>
            <a:endParaRPr lang="zh-CN" sz="32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5000"/>
              </a:lnSpc>
              <a:buNone/>
              <a:def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endParaRPr lang="zh-CN" sz="15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zh-CN" sz="12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endParaRPr lang="zh-CN" sz="15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zh-CN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defRPr>
            </a:lvl1pPr>
          </a:lstStyle>
          <a:p>
            <a:pPr algn="l" indent="0" marL="0">
              <a:buNone/>
            </a:pPr>
            <a:endParaRPr lang="zh-CN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zh-CN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2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defRPr>
            </a:lvl1pPr>
          </a:lstStyle>
          <a:p>
            <a:pPr algn="l" indent="0" marL="0">
              <a:buNone/>
            </a:pPr>
            <a:endParaRPr lang="zh-CN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DBF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200" spc="200" kern="0" dirty="0">
                <a:solidFill>
                  <a:srgbClr val="F0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zh-CN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32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defRPr>
            </a:lvl1pPr>
          </a:lstStyle>
          <a:p>
            <a:pPr algn="l" indent="0" marL="0">
              <a:buNone/>
            </a:pPr>
            <a:endParaRPr lang="zh-CN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zh-CN" altLang="en-US" sz="1200" dirty="0">
                <a:solidFill>
                  <a:srgbClr val="F0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0D6C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title" hasCustomPrompt="1"/>
          </p:nvPr>
        </p:nvSpPr>
        <p:spPr>
          <a:xfrm>
            <a:off x="1883664" y="4370832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6600" spc="800" kern="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淝水之战</a:t>
            </a:r>
            <a:endParaRPr lang="zh-CN" sz="66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1883664" y="5340096"/>
            <a:ext cx="8686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spc="300" kern="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三维战场沙盘 · 分节讲解</a:t>
            </a:r>
            <a:endParaRPr lang="zh-CN" sz="15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5870448"/>
            <a:ext cx="10565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东晋太元八年 · 前秦建元十九年 · 公元三八三年　｜　十三个时间节点，沙盘全程 3 分 35 秒</a:t>
            </a:r>
            <a:endParaRPr lang="zh-C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 · 使用方法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跟着沙盘看：这份讲解怎么用</a:t>
            </a:r>
            <a:endParaRPr lang="zh-CN" sz="3200" dirty="0"/>
          </a:p>
        </p:txBody>
      </p:sp>
      <p:sp>
        <p:nvSpPr>
          <p:cNvPr id="5" name="card-1"/>
          <p:cNvSpPr/>
          <p:nvPr/>
        </p:nvSpPr>
        <p:spPr>
          <a:xfrm>
            <a:off x="812902" y="1737360"/>
            <a:ext cx="3339084" cy="3154680"/>
          </a:xfrm>
          <a:prstGeom prst="roundRect">
            <a:avLst>
              <a:gd name="adj" fmla="val 2319"/>
            </a:avLst>
          </a:prstGeom>
          <a:solidFill>
            <a:srgbClr val="E9DFCA"/>
          </a:solidFill>
          <a:ln w="12700">
            <a:solidFill>
              <a:srgbClr val="E9DFCA"/>
            </a:solidFill>
            <a:prstDash val="solid"/>
          </a:ln>
        </p:spPr>
      </p:sp>
      <p:sp>
        <p:nvSpPr>
          <p:cNvPr id="6" name="card-1-num"/>
          <p:cNvSpPr txBox="1"/>
          <p:nvPr/>
        </p:nvSpPr>
        <p:spPr>
          <a:xfrm>
            <a:off x="1087222" y="1965960"/>
            <a:ext cx="27904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000" dirty="0">
                <a:solidFill>
                  <a:schemeClr val="accent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一</a:t>
            </a:r>
            <a:endParaRPr lang="zh-CN" sz="4000" dirty="0"/>
          </a:p>
        </p:txBody>
      </p:sp>
      <p:sp>
        <p:nvSpPr>
          <p:cNvPr id="7" name="card-1-title"/>
          <p:cNvSpPr txBox="1"/>
          <p:nvPr/>
        </p:nvSpPr>
        <p:spPr>
          <a:xfrm>
            <a:off x="1087222" y="2697480"/>
            <a:ext cx="2790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每节两页</a:t>
            </a:r>
            <a:endParaRPr lang="zh-CN" sz="1500" dirty="0"/>
          </a:p>
        </p:txBody>
      </p:sp>
      <p:sp>
        <p:nvSpPr>
          <p:cNvPr id="8" name="card-1-text"/>
          <p:cNvSpPr txBox="1"/>
          <p:nvPr/>
        </p:nvSpPr>
        <p:spPr>
          <a:xfrm>
            <a:off x="1087222" y="3108960"/>
            <a:ext cx="27904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先看「画面与节拍」，对照沙盘同一时刻的画面，按秒数跟上箭头与标注；再读「故事与原文」，白话讲经过，旁列史书原文。</a:t>
            </a:r>
            <a:endParaRPr lang="zh-CN" sz="1500" dirty="0"/>
          </a:p>
        </p:txBody>
      </p:sp>
      <p:sp>
        <p:nvSpPr>
          <p:cNvPr id="9" name="card-2"/>
          <p:cNvSpPr/>
          <p:nvPr/>
        </p:nvSpPr>
        <p:spPr>
          <a:xfrm>
            <a:off x="4426306" y="1737360"/>
            <a:ext cx="3339084" cy="3154680"/>
          </a:xfrm>
          <a:prstGeom prst="roundRect">
            <a:avLst>
              <a:gd name="adj" fmla="val 2319"/>
            </a:avLst>
          </a:prstGeom>
          <a:solidFill>
            <a:srgbClr val="E9DFCA"/>
          </a:solidFill>
          <a:ln w="12700">
            <a:solidFill>
              <a:srgbClr val="E9DFCA"/>
            </a:solidFill>
            <a:prstDash val="solid"/>
          </a:ln>
        </p:spPr>
      </p:sp>
      <p:sp>
        <p:nvSpPr>
          <p:cNvPr id="10" name="card-2-num"/>
          <p:cNvSpPr txBox="1"/>
          <p:nvPr/>
        </p:nvSpPr>
        <p:spPr>
          <a:xfrm>
            <a:off x="4700626" y="1965960"/>
            <a:ext cx="27904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000" dirty="0">
                <a:solidFill>
                  <a:schemeClr val="accent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二</a:t>
            </a:r>
            <a:endParaRPr lang="zh-CN" sz="4000" dirty="0"/>
          </a:p>
        </p:txBody>
      </p:sp>
      <p:sp>
        <p:nvSpPr>
          <p:cNvPr id="11" name="card-2-title"/>
          <p:cNvSpPr txBox="1"/>
          <p:nvPr/>
        </p:nvSpPr>
        <p:spPr>
          <a:xfrm>
            <a:off x="4700626" y="2697480"/>
            <a:ext cx="2790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时间码</a:t>
            </a:r>
            <a:endParaRPr lang="zh-CN" sz="1500" dirty="0"/>
          </a:p>
        </p:txBody>
      </p:sp>
      <p:sp>
        <p:nvSpPr>
          <p:cNvPr id="12" name="card-2-text"/>
          <p:cNvSpPr txBox="1"/>
          <p:nvPr/>
        </p:nvSpPr>
        <p:spPr>
          <a:xfrm>
            <a:off x="4700626" y="3108960"/>
            <a:ext cx="27904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沙盘以 1× 速度连续播放，十三节共 3 分 35 秒。每节标出起止时间，以及关键画面出现在本节第几秒；选 0.5× 时秒数加倍。</a:t>
            </a:r>
            <a:endParaRPr lang="zh-CN" sz="1500" dirty="0"/>
          </a:p>
        </p:txBody>
      </p:sp>
      <p:sp>
        <p:nvSpPr>
          <p:cNvPr id="13" name="card-3"/>
          <p:cNvSpPr/>
          <p:nvPr/>
        </p:nvSpPr>
        <p:spPr>
          <a:xfrm>
            <a:off x="8039710" y="1737360"/>
            <a:ext cx="3339084" cy="3154680"/>
          </a:xfrm>
          <a:prstGeom prst="roundRect">
            <a:avLst>
              <a:gd name="adj" fmla="val 2319"/>
            </a:avLst>
          </a:prstGeom>
          <a:solidFill>
            <a:srgbClr val="E9DFCA"/>
          </a:solidFill>
          <a:ln w="12700">
            <a:solidFill>
              <a:srgbClr val="E9DFCA"/>
            </a:solidFill>
            <a:prstDash val="solid"/>
          </a:ln>
        </p:spPr>
      </p:sp>
      <p:sp>
        <p:nvSpPr>
          <p:cNvPr id="14" name="card-3-num"/>
          <p:cNvSpPr txBox="1"/>
          <p:nvPr/>
        </p:nvSpPr>
        <p:spPr>
          <a:xfrm>
            <a:off x="8314030" y="1965960"/>
            <a:ext cx="27904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000" dirty="0">
                <a:solidFill>
                  <a:schemeClr val="accent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三</a:t>
            </a:r>
            <a:endParaRPr lang="zh-CN" sz="4000" dirty="0"/>
          </a:p>
        </p:txBody>
      </p:sp>
      <p:sp>
        <p:nvSpPr>
          <p:cNvPr id="15" name="card-3-title"/>
          <p:cNvSpPr txBox="1"/>
          <p:nvPr/>
        </p:nvSpPr>
        <p:spPr>
          <a:xfrm>
            <a:off x="8314030" y="2697480"/>
            <a:ext cx="27904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tx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zh-CN" sz="1500" dirty="0"/>
          </a:p>
        </p:txBody>
      </p:sp>
      <p:sp>
        <p:nvSpPr>
          <p:cNvPr id="16" name="card-3-text"/>
          <p:cNvSpPr txBox="1"/>
          <p:nvPr/>
        </p:nvSpPr>
        <p:spPr>
          <a:xfrm>
            <a:off x="8314030" y="3108960"/>
            <a:ext cx="27904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空格：播放或暂停；← →：上一节、下一节；拖动旋转，滚轮缩放，右键平移。点右上角「自动镜头」回到剧情视角。</a:t>
            </a:r>
            <a:endParaRPr lang="zh-CN" sz="1500" dirty="0"/>
          </a:p>
        </p:txBody>
      </p:sp>
      <p:sp>
        <p:nvSpPr>
          <p:cNvPr id="17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沙盘文件：仓库中的 docs/index.html，单文件，双击即可离线打开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 · 图例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读图：颜色与符号</a:t>
            </a:r>
            <a:endParaRPr lang="zh-CN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1737360"/>
            <a:ext cx="49629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兵力与旗帜</a:t>
            </a:r>
            <a:endParaRPr lang="zh-CN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15888" y="1737360"/>
            <a:ext cx="49629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箭头与标注</a:t>
            </a:r>
            <a:endParaRPr lang="zh-CN" sz="1500" dirty="0"/>
          </a:p>
        </p:txBody>
      </p:sp>
      <p:sp>
        <p:nvSpPr>
          <p:cNvPr id="7" name="swatch-jin"/>
          <p:cNvSpPr/>
          <p:nvPr/>
        </p:nvSpPr>
        <p:spPr>
          <a:xfrm>
            <a:off x="886054" y="2304288"/>
            <a:ext cx="292608" cy="292608"/>
          </a:xfrm>
          <a:prstGeom prst="rect">
            <a:avLst/>
          </a:prstGeom>
          <a:solidFill>
            <a:srgbClr val="D6492F"/>
          </a:solidFill>
          <a:ln w="12700">
            <a:solidFill>
              <a:srgbClr val="D6492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98702" y="2286000"/>
            <a:ext cx="42771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东晋军</a:t>
            </a:r>
            <a:pPr indent="0" marL="0">
              <a:buNone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：朱红色兵俑与舟船</a:t>
            </a:r>
            <a:endParaRPr lang="zh-CN" sz="1500" dirty="0"/>
          </a:p>
        </p:txBody>
      </p:sp>
      <p:sp>
        <p:nvSpPr>
          <p:cNvPr id="9" name="swatch-qin"/>
          <p:cNvSpPr/>
          <p:nvPr/>
        </p:nvSpPr>
        <p:spPr>
          <a:xfrm>
            <a:off x="886054" y="2761488"/>
            <a:ext cx="292608" cy="292608"/>
          </a:xfrm>
          <a:prstGeom prst="rect">
            <a:avLst/>
          </a:prstGeom>
          <a:solidFill>
            <a:srgbClr val="4B70CF"/>
          </a:solidFill>
          <a:ln w="12700">
            <a:solidFill>
              <a:srgbClr val="4B70C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98702" y="2743200"/>
            <a:ext cx="42771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前秦军</a:t>
            </a:r>
            <a:pPr indent="0" marL="0">
              <a:buNone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：靛蓝色兵俑与舟船</a:t>
            </a:r>
            <a:endParaRPr lang="zh-CN" sz="1500" dirty="0"/>
          </a:p>
        </p:txBody>
      </p:sp>
      <p:sp>
        <p:nvSpPr>
          <p:cNvPr id="11" name="flag-pole"/>
          <p:cNvSpPr/>
          <p:nvPr/>
        </p:nvSpPr>
        <p:spPr>
          <a:xfrm>
            <a:off x="922630" y="3182112"/>
            <a:ext cx="36576" cy="365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flag-cloth"/>
          <p:cNvSpPr/>
          <p:nvPr/>
        </p:nvSpPr>
        <p:spPr>
          <a:xfrm>
            <a:off x="959206" y="3200400"/>
            <a:ext cx="219456" cy="155448"/>
          </a:xfrm>
          <a:prstGeom prst="rect">
            <a:avLst/>
          </a:prstGeom>
          <a:solidFill>
            <a:srgbClr val="D6492F"/>
          </a:solidFill>
          <a:ln w="12700">
            <a:solidFill>
              <a:srgbClr val="D6492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498702" y="3200400"/>
            <a:ext cx="42771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主将牙旗</a:t>
            </a:r>
            <a:pPr indent="0" marL="0">
              <a:buNone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：旗上写主将姓名，阵亡则倒地</a:t>
            </a:r>
            <a:endParaRPr lang="zh-CN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12902" y="3794760"/>
            <a:ext cx="49629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行军时兵俑排成纵队，到达后展开为横阵、营地或围城；溃败时队形散乱，阵亡者倒伏原地。兵俑与舟船经过放大，数量不代表实际人数。</a:t>
            </a:r>
            <a:endParaRPr lang="zh-CN" sz="1200" dirty="0"/>
          </a:p>
        </p:txBody>
      </p:sp>
      <p:sp>
        <p:nvSpPr>
          <p:cNvPr id="15" name="arrow-advance"/>
          <p:cNvSpPr/>
          <p:nvPr/>
        </p:nvSpPr>
        <p:spPr>
          <a:xfrm>
            <a:off x="6415888" y="2322576"/>
            <a:ext cx="457200" cy="237744"/>
          </a:xfrm>
          <a:prstGeom prst="rightArrow">
            <a:avLst/>
          </a:prstGeom>
          <a:solidFill>
            <a:srgbClr val="D6492F"/>
          </a:solidFill>
          <a:ln w="12700">
            <a:solidFill>
              <a:srgbClr val="D6492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101688" y="2286000"/>
            <a:ext cx="42771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进军</a:t>
            </a:r>
            <a:pPr indent="0" marL="0">
              <a:buNone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：实心箭头，随时间延伸</a:t>
            </a:r>
            <a:endParaRPr lang="zh-CN" sz="1500" dirty="0"/>
          </a:p>
        </p:txBody>
      </p:sp>
      <p:sp>
        <p:nvSpPr>
          <p:cNvPr id="17" name="dash-0"/>
          <p:cNvSpPr/>
          <p:nvPr/>
        </p:nvSpPr>
        <p:spPr>
          <a:xfrm>
            <a:off x="6415888" y="2862072"/>
            <a:ext cx="91440" cy="8229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dash-1"/>
          <p:cNvSpPr/>
          <p:nvPr/>
        </p:nvSpPr>
        <p:spPr>
          <a:xfrm>
            <a:off x="6553048" y="2862072"/>
            <a:ext cx="91440" cy="82296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arrow-retreat"/>
          <p:cNvSpPr/>
          <p:nvPr/>
        </p:nvSpPr>
        <p:spPr>
          <a:xfrm>
            <a:off x="6690208" y="2798064"/>
            <a:ext cx="182880" cy="201168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01688" y="2743200"/>
            <a:ext cx="42771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撤退 / 溃逃</a:t>
            </a:r>
            <a:pPr indent="0" marL="0">
              <a:buNone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：断续的虚线箭头</a:t>
            </a:r>
            <a:endParaRPr lang="zh-CN" sz="1500" dirty="0"/>
          </a:p>
        </p:txBody>
      </p:sp>
      <p:sp>
        <p:nvSpPr>
          <p:cNvPr id="21" name="arrow-naval"/>
          <p:cNvSpPr/>
          <p:nvPr/>
        </p:nvSpPr>
        <p:spPr>
          <a:xfrm>
            <a:off x="6415888" y="3236976"/>
            <a:ext cx="457200" cy="237744"/>
          </a:xfrm>
          <a:prstGeom prst="rightArrow">
            <a:avLst/>
          </a:prstGeom>
          <a:solidFill>
            <a:srgbClr val="D6492F"/>
          </a:solidFill>
          <a:ln w="12700">
            <a:solidFill>
              <a:srgbClr val="D6492F"/>
            </a:solidFill>
            <a:prstDash val="solid"/>
          </a:ln>
        </p:spPr>
      </p:sp>
      <p:sp>
        <p:nvSpPr>
          <p:cNvPr id="22" name="arrow-naval-line"/>
          <p:cNvSpPr/>
          <p:nvPr/>
        </p:nvSpPr>
        <p:spPr>
          <a:xfrm>
            <a:off x="6443320" y="3342132"/>
            <a:ext cx="274320" cy="2743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01688" y="3200400"/>
            <a:ext cx="42771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舟师</a:t>
            </a:r>
            <a:pPr indent="0" marL="0">
              <a:buNone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：箭身带白线，走水道</a:t>
            </a:r>
            <a:endParaRPr lang="zh-CN" sz="1500" dirty="0"/>
          </a:p>
        </p:txBody>
      </p:sp>
      <p:sp>
        <p:nvSpPr>
          <p:cNvPr id="24" name="dot-0"/>
          <p:cNvSpPr/>
          <p:nvPr/>
        </p:nvSpPr>
        <p:spPr>
          <a:xfrm>
            <a:off x="6415888" y="3776472"/>
            <a:ext cx="82296" cy="822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dot-1"/>
          <p:cNvSpPr/>
          <p:nvPr/>
        </p:nvSpPr>
        <p:spPr>
          <a:xfrm>
            <a:off x="6534760" y="3776472"/>
            <a:ext cx="82296" cy="822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dot-2"/>
          <p:cNvSpPr/>
          <p:nvPr/>
        </p:nvSpPr>
        <p:spPr>
          <a:xfrm>
            <a:off x="6653632" y="3776472"/>
            <a:ext cx="82296" cy="822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dot-3"/>
          <p:cNvSpPr/>
          <p:nvPr/>
        </p:nvSpPr>
        <p:spPr>
          <a:xfrm>
            <a:off x="6772504" y="3776472"/>
            <a:ext cx="82296" cy="822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101688" y="3657600"/>
            <a:ext cx="42771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使者 / 信使</a:t>
            </a:r>
            <a:pPr indent="0" marL="0">
              <a:buNone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：金色点线</a:t>
            </a:r>
            <a:endParaRPr lang="zh-CN" sz="1500" dirty="0"/>
          </a:p>
        </p:txBody>
      </p:sp>
      <p:sp>
        <p:nvSpPr>
          <p:cNvPr id="29" name="arrow-plan"/>
          <p:cNvSpPr/>
          <p:nvPr/>
        </p:nvSpPr>
        <p:spPr>
          <a:xfrm>
            <a:off x="6415888" y="4151376"/>
            <a:ext cx="457200" cy="237744"/>
          </a:xfrm>
          <a:prstGeom prst="rightArrow">
            <a:avLst/>
          </a:prstGeom>
          <a:noFill/>
          <a:ln w="19050">
            <a:solidFill>
              <a:schemeClr val="accent5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7101688" y="4114800"/>
            <a:ext cx="42771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 / 意图</a:t>
            </a:r>
            <a:pPr indent="0" marL="0">
              <a:buNone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：空心虚线</a:t>
            </a:r>
            <a:endParaRPr lang="zh-CN" sz="1500" dirty="0"/>
          </a:p>
        </p:txBody>
      </p:sp>
      <p:sp>
        <p:nvSpPr>
          <p:cNvPr id="31" name="mark-battle"/>
          <p:cNvSpPr/>
          <p:nvPr/>
        </p:nvSpPr>
        <p:spPr>
          <a:xfrm>
            <a:off x="6489040" y="4599432"/>
            <a:ext cx="256032" cy="256032"/>
          </a:xfrm>
          <a:prstGeom prst="ellips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73088" y="4572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交战</a:t>
            </a:r>
            <a:endParaRPr lang="zh-CN" sz="1500" dirty="0"/>
          </a:p>
        </p:txBody>
      </p:sp>
      <p:sp>
        <p:nvSpPr>
          <p:cNvPr id="33" name="mark-death"/>
          <p:cNvSpPr/>
          <p:nvPr/>
        </p:nvSpPr>
        <p:spPr>
          <a:xfrm>
            <a:off x="7604608" y="4608576"/>
            <a:ext cx="237744" cy="237744"/>
          </a:xfrm>
          <a:prstGeom prst="diamond">
            <a:avLst/>
          </a:prstGeom>
          <a:solidFill>
            <a:srgbClr val="D6492F"/>
          </a:solidFill>
          <a:ln w="12700">
            <a:solidFill>
              <a:srgbClr val="D6492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952080" y="4572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阵亡</a:t>
            </a:r>
            <a:endParaRPr lang="zh-CN" sz="1500" dirty="0"/>
          </a:p>
        </p:txBody>
      </p:sp>
      <p:sp>
        <p:nvSpPr>
          <p:cNvPr id="35" name="mark-idiom"/>
          <p:cNvSpPr/>
          <p:nvPr/>
        </p:nvSpPr>
        <p:spPr>
          <a:xfrm>
            <a:off x="8701888" y="4590288"/>
            <a:ext cx="274320" cy="2743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01888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成</a:t>
            </a:r>
            <a:endParaRPr lang="zh-CN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9085936" y="45720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成语印章</a:t>
            </a:r>
            <a:endParaRPr lang="zh-CN" sz="1500" dirty="0"/>
          </a:p>
        </p:txBody>
      </p:sp>
      <p:sp>
        <p:nvSpPr>
          <p:cNvPr id="38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人物原话以对白气泡出现；沙盘右上角「图层」可开关地名、路线、等高线和方格网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DBF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 · 两座沙盘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一座看全局，一座看战场</a:t>
            </a:r>
            <a:endParaRPr lang="zh-CN" sz="3200" dirty="0"/>
          </a:p>
        </p:txBody>
      </p:sp>
      <p:pic>
        <p:nvPicPr>
          <p:cNvPr id="5" name="table-1" descr="战略全局沙盘：长安、洛阳、项城、寿阳、建康，蓝色箭头为秦军自长安东进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902" y="1645920"/>
            <a:ext cx="5122926" cy="288164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12902" y="4692158"/>
            <a:ext cx="51229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战略全局 · 约 1260 × 770 公里</a:t>
            </a:r>
            <a:endParaRPr lang="zh-CN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12902" y="5076206"/>
            <a:ext cx="51229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长安到建康，两军的调动、集结与战后北还。第一至三节、第十二至十三节在此展开；地形垂直夸张 ×10。</a:t>
            </a:r>
            <a:endParaRPr lang="zh-CN" sz="1200" dirty="0"/>
          </a:p>
        </p:txBody>
      </p:sp>
      <p:pic>
        <p:nvPicPr>
          <p:cNvPr id="8" name="table-2" descr="淝水战场沙盘：寿阳、八公山、硖石与洛涧，蓝色箭头为梁成东进洛涧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868" y="1645920"/>
            <a:ext cx="5122926" cy="288164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255868" y="4692158"/>
            <a:ext cx="51229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淝水战场 · 约 82 × 49 公里</a:t>
            </a:r>
            <a:endParaRPr lang="zh-CN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6255868" y="5076206"/>
            <a:ext cx="51229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寿阳、八公山、硖石、洛涧：攻城、夜袭、对峙与决战。第四至十一节在此展开；地形垂直夸张 ×5。</a:t>
            </a:r>
            <a:endParaRPr lang="zh-CN" sz="1200" dirty="0"/>
          </a:p>
        </p:txBody>
      </p:sp>
      <p:sp>
        <p:nvSpPr>
          <p:cNvPr id="11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地形据真实高程；水系按东晋时期改绘：黄河走东汉故道，淮河独流入海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DBF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 · 十三个时间节点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沙盘时间表：何时、何地、何事</a:t>
            </a:r>
            <a:endParaRPr lang="zh-CN" sz="3200" dirty="0"/>
          </a:p>
        </p:txBody>
      </p:sp>
      <p:graphicFrame>
        <p:nvGraphicFramePr>
          <p:cNvPr id="6" name="nod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1627632"/>
          <a:ext cx="10565892" cy="914400"/>
        </p:xfrm>
        <a:graphic>
          <a:graphicData uri="http://schemas.openxmlformats.org/drawingml/2006/table">
            <a:tbl>
              <a:tblPr/>
              <a:tblGrid>
                <a:gridCol w="739612"/>
                <a:gridCol w="1479225"/>
                <a:gridCol w="2852791"/>
                <a:gridCol w="2747132"/>
                <a:gridCol w="1056589"/>
                <a:gridCol w="1690543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史书日期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公历（儒略历）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沙盘时间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投鞭断流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太元七年冬—八年七月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382年冬—383年8月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0:00–0:15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大举南征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八月戊午、甲子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383年9月14日、20日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0:15–0:30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水陆齐进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九月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10月13日—11月10日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0:30–0:47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寿阳失守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十月癸酉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11月28日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0:47–1:02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栅淮遏东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十月下旬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约12月初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1:02–1:16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轻骑兼道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十月下旬—十一月初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约12月上旬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1:16–1:33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洛涧夜袭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十一月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1:33–1:50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草木皆兵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十一月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1:50–2:08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九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临淝对峙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十一月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2:08–2:24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淝水决战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十一月（一说十月乙亥）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12月（一说11月30日）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2:24–2:44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风声鹤唳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决战当日及其后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383年冬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2:44–3:02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小儿破贼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十一月—十二月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383年12月—384年1月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3:02–3:17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DFC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十三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南北再分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太元九年—十年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384—385年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3D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3:17–3:35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BD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史书日期按东晋太元八年历日换算（十月丙辰朔、十一月丙戌朔），公历为儒略历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 · 人物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两军人物：谁在沙盘上</a:t>
            </a:r>
            <a:endParaRPr lang="zh-CN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1691640"/>
            <a:ext cx="50543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前秦 · 靛蓝</a:t>
            </a:r>
            <a:endParaRPr lang="zh-CN" sz="1500" dirty="0"/>
          </a:p>
        </p:txBody>
      </p:sp>
      <p:sp>
        <p:nvSpPr>
          <p:cNvPr id="6" name="cast-rule-1"/>
          <p:cNvSpPr/>
          <p:nvPr/>
        </p:nvSpPr>
        <p:spPr>
          <a:xfrm>
            <a:off x="812902" y="2103120"/>
            <a:ext cx="5054346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902" y="22677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苻坚</a:t>
            </a:r>
            <a:endParaRPr lang="zh-CN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773022" y="22677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前秦天王，亲率大军南征</a:t>
            </a:r>
            <a:endParaRPr lang="zh-CN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2902" y="2724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苻融</a:t>
            </a:r>
            <a:endParaRPr lang="zh-CN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773022" y="27249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阳平公，苻坚之弟，督前锋；战死淝水</a:t>
            </a:r>
            <a:endParaRPr lang="zh-CN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12902" y="31821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张蚝</a:t>
            </a:r>
            <a:endParaRPr lang="zh-CN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773022" y="31821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后将军，骁将，随苻融为前锋</a:t>
            </a:r>
            <a:endParaRPr lang="zh-CN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12902" y="36393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梁成</a:t>
            </a:r>
            <a:endParaRPr lang="zh-CN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773022" y="36393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卫将军，屯洛涧；为刘牢之所斩</a:t>
            </a:r>
            <a:endParaRPr lang="zh-CN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12902" y="40965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慕容垂</a:t>
            </a:r>
            <a:endParaRPr lang="zh-CN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773022" y="40965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冠军将军，前燕宗室；战后复建燕国</a:t>
            </a:r>
            <a:endParaRPr lang="zh-CN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12902" y="45537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姚苌</a:t>
            </a:r>
            <a:endParaRPr lang="zh-CN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773022" y="45537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龙骧将军，督益、梁州；战后建后秦</a:t>
            </a:r>
            <a:endParaRPr lang="zh-CN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12902" y="5010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朱序</a:t>
            </a:r>
            <a:endParaRPr lang="zh-CN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773022" y="50109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秦尚书，原东晋襄阳守将；阵后呼“秦兵败矣”</a:t>
            </a:r>
            <a:endParaRPr lang="zh-CN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324448" y="1691640"/>
            <a:ext cx="50543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东晋 · 朱红</a:t>
            </a:r>
            <a:endParaRPr lang="zh-CN" sz="1500" dirty="0"/>
          </a:p>
        </p:txBody>
      </p:sp>
      <p:sp>
        <p:nvSpPr>
          <p:cNvPr id="22" name="cast-rule-2"/>
          <p:cNvSpPr/>
          <p:nvPr/>
        </p:nvSpPr>
        <p:spPr>
          <a:xfrm>
            <a:off x="6324448" y="2103120"/>
            <a:ext cx="5054346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24448" y="22677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谢安</a:t>
            </a:r>
            <a:endParaRPr lang="zh-CN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284568" y="22677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宰辅，坐镇建康，总统诸军</a:t>
            </a:r>
            <a:endParaRPr lang="zh-CN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324448" y="2724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谢石</a:t>
            </a:r>
            <a:endParaRPr lang="zh-CN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7284568" y="27249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尚书仆射、征讨大都督，谢安之弟</a:t>
            </a:r>
            <a:endParaRPr lang="zh-CN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324448" y="31821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谢玄</a:t>
            </a:r>
            <a:endParaRPr lang="zh-CN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284568" y="31821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前锋都督，谢安之侄，统北府兵</a:t>
            </a:r>
            <a:endParaRPr lang="zh-CN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324448" y="36393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谢琰</a:t>
            </a:r>
            <a:endParaRPr lang="zh-CN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284568" y="36393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辅国将军，谢安之子</a:t>
            </a:r>
            <a:endParaRPr lang="zh-CN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324448" y="40965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桓伊</a:t>
            </a:r>
            <a:endParaRPr lang="zh-CN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7284568" y="40965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西中郎将，渡淝水的主将之一</a:t>
            </a:r>
            <a:endParaRPr lang="zh-CN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324448" y="45537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刘牢之</a:t>
            </a:r>
            <a:endParaRPr lang="zh-CN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7284568" y="45537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广陵相，北府猛将；夜袭洛涧</a:t>
            </a:r>
            <a:endParaRPr lang="zh-CN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324448" y="50109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胡彬</a:t>
            </a:r>
            <a:endParaRPr lang="zh-CN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7284568" y="50109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龙骧将军，率水军五千援寿阳</a:t>
            </a:r>
            <a:endParaRPr lang="zh-CN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324448" y="546811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桓冲</a:t>
            </a:r>
            <a:endParaRPr lang="zh-CN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7284568" y="5468112"/>
            <a:ext cx="40942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荆州刺史，镇守长江中游西线</a:t>
            </a:r>
            <a:endParaRPr lang="zh-CN" sz="1200" dirty="0"/>
          </a:p>
        </p:txBody>
      </p:sp>
      <p:sp>
        <p:nvSpPr>
          <p:cNvPr id="39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官职据《资治通鉴》卷一〇五；沙盘上每部人马的牙旗写着主将姓名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 · 兵力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兵力悬殊：八十七万对八万</a:t>
            </a:r>
            <a:endParaRPr lang="zh-CN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1645920"/>
            <a:ext cx="5054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前秦</a:t>
            </a:r>
            <a:endParaRPr lang="zh-CN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2011680"/>
            <a:ext cx="505434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6600" dirty="0">
                <a:solidFill>
                  <a:schemeClr val="accent5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87万</a:t>
            </a:r>
            <a:endParaRPr lang="zh-CN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812902" y="3063240"/>
            <a:ext cx="50543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“戎卒六十余万，骑二十七万”；前锋苻融步骑二十五万，至颍口时“兵三十万”。</a:t>
            </a:r>
            <a:endParaRPr lang="zh-CN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324448" y="1645920"/>
            <a:ext cx="50543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东晋</a:t>
            </a:r>
            <a:endParaRPr lang="zh-CN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324448" y="2011680"/>
            <a:ext cx="505434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6600" dirty="0">
                <a:solidFill>
                  <a:schemeClr val="accent4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8万</a:t>
            </a:r>
            <a:endParaRPr lang="zh-CN" sz="6600" dirty="0"/>
          </a:p>
        </p:txBody>
      </p:sp>
      <p:sp>
        <p:nvSpPr>
          <p:cNvPr id="10" name="Text 7"/>
          <p:cNvSpPr txBox="1"/>
          <p:nvPr/>
        </p:nvSpPr>
        <p:spPr>
          <a:xfrm>
            <a:off x="6324448" y="3063240"/>
            <a:ext cx="50543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谢石、谢玄、谢琰、桓伊等“众共八万”（《晋书·苻坚载记》作“水陆七万”），另有胡彬水军五千。</a:t>
            </a:r>
            <a:endParaRPr lang="zh-CN" sz="1500" dirty="0"/>
          </a:p>
        </p:txBody>
      </p:sp>
      <p:sp>
        <p:nvSpPr>
          <p:cNvPr id="11" name="forces-note"/>
          <p:cNvSpPr/>
          <p:nvPr/>
        </p:nvSpPr>
        <p:spPr>
          <a:xfrm>
            <a:off x="812902" y="4160520"/>
            <a:ext cx="10565892" cy="1051560"/>
          </a:xfrm>
          <a:prstGeom prst="roundRect">
            <a:avLst>
              <a:gd name="adj" fmla="val 6957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32942" y="4160520"/>
            <a:ext cx="99258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但淝水一线的秦军远没有这么多：苻坚“留大军于项城，引轻骑八千”赶到寿阳；凉州之兵才到咸阳，蜀、汉之兵还在顺流而下。</a:t>
            </a:r>
            <a:endParaRPr lang="zh-CN" sz="1500" dirty="0"/>
          </a:p>
        </p:txBody>
      </p:sp>
      <p:sp>
        <p:nvSpPr>
          <p:cNvPr id="13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引文据《资治通鉴》卷一〇五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DBF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第一节 · 全局沙盘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投鞭断流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太元七年冬 — 八年七月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公元382年冬 — 383年8月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0:00–0:15，共 15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长安：“投鞭断流”印章与苻坚原话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206776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325648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325648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红箭头：桓冲率众十万攻襄阳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6807159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6926031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6926031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蓝箭头：苻叡、慕容垂步骑五万救襄阳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8407542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8526414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8526414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襄阳交战：五月出师，七月退还</a:t>
            </a:r>
            <a:endParaRPr lang="zh-CN" sz="1200" dirty="0"/>
          </a:p>
        </p:txBody>
      </p:sp>
      <p:sp>
        <p:nvSpPr>
          <p:cNvPr id="19" name="beat-5"/>
          <p:cNvSpPr/>
          <p:nvPr/>
        </p:nvSpPr>
        <p:spPr>
          <a:xfrm>
            <a:off x="10007925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20" name="beat-5-time"/>
          <p:cNvSpPr txBox="1"/>
          <p:nvPr/>
        </p:nvSpPr>
        <p:spPr>
          <a:xfrm>
            <a:off x="10126797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秒</a:t>
            </a:r>
            <a:endParaRPr lang="zh-CN" sz="1200" dirty="0"/>
          </a:p>
        </p:txBody>
      </p:sp>
      <p:sp>
        <p:nvSpPr>
          <p:cNvPr id="21" name="beat-5-text"/>
          <p:cNvSpPr txBox="1"/>
          <p:nvPr/>
        </p:nvSpPr>
        <p:spPr>
          <a:xfrm>
            <a:off x="10126797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红色虚线：桓冲退还上明</a:t>
            </a:r>
            <a:endParaRPr lang="zh-CN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第一节 · 投鞭断流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苻坚决意南征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秦天王苻坚重用王猛，先后灭前燕、前凉与代国，又取东晋梁、益二州和襄阳，统一北方。太元七年（382年）十月，他在长安太极殿召集群臣，提出亲率大军伐晋。权翼、石越等纷纷反对，石越说晋有长江之险；苻坚答道：以我军之众，把马鞭投进长江，就足以截断江流。苻融私下苦谏，又提醒鲜卑、羌人遍布京畿，恐生内变，苻坚不听。次年五月，东晋桓冲率众十万攻襄阳，秦遣苻叡、慕容垂率步骑五万往救；七月，慕容垂夜令军士每人持十炬系于树枝，光照数十里，桓冲退回上明。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投鞭断流：投下马鞭就能截断江流，形容兵多势众。上明：桓冲驻地，在今湖北松滋。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「今略计吾士卒，可得九十七万，吾欲自将以讨之，何如？」……石越曰：「……且彼据长江之险，民为之用，殆未可伐也！」坚曰：「……今以吾之众，投鞭于江，足断其流，又何险之足恃乎！」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——《资治通鉴》卷一〇四 · 太元七年冬十月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「垂夜命军士人持十炬，系于树枝，光照数十里。冲惧，退还上明。」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——《资治通鉴》卷一〇五 · 太元八年七月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太元七年冬 — 八年七月 · 公元382年冬 — 383年8月 · 沙盘 0:00–0:15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第二节 · 全局沙盘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大举南征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太元八年八月戊午、甲子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公元383年9月14日、20日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0:15–0:30，共 15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872463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634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6347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长安“八月戊午”：苻融督前锋二十五万出发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606872" y="5230368"/>
            <a:ext cx="1872463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725744" y="5321808"/>
            <a:ext cx="1634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725744" y="5577840"/>
            <a:ext cx="16347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“八月甲子”：苻坚发长安，主力粗箭头“前后千里”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7607351" y="5230368"/>
            <a:ext cx="1872463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7726223" y="5321808"/>
            <a:ext cx="1634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7726223" y="5577840"/>
            <a:ext cx="16347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慕容垂所部南下，日后攻郧城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9607829" y="5230368"/>
            <a:ext cx="1872463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9726701" y="5321808"/>
            <a:ext cx="1634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9726701" y="5577840"/>
            <a:ext cx="16347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苻融前锋过洛阳，折向颍口</a:t>
            </a:r>
            <a:endParaRPr lang="zh-CN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第二节 · 大举南征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前后千里，旗鼓相望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坚下诏大举伐晋：百姓每十丁出一兵，二十岁以下有材勇的良家子都拜为羽林郎，应募而来的有三万余骑。朝臣多不愿苻坚亲征，只有慕容垂、姚苌和良家子劝行。苻融进谏：鲜卑、羌人是我们的仇敌，常盼天下有变以逞其志，他们的计策不可听，苻坚不听。八月戊午（9月14日），苻融督张蚝、慕容垂等步骑二十五万为前锋；姚苌为龙骧将军，督益、梁州诸军事。甲子（9月20日），苻坚从长安出发，戎卒六十余万、骑二十七万，旗鼓相望，前后千里。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良家子：清白人家的子弟。龙骧将军：苻坚即位前曾任此职，故说“未尝轻以授人”。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「八月，戊午，坚遣阳平公融督张蚝、慕容垂等步骑二十五万为前锋……甲子，坚发长安，戎卒六十余万，骑二十七万，旗鼓相望，前后千里。」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慕容楷、慕容绍言于慕容垂曰：「主上骄矜已甚，叔父建中兴之业，在此行也！」垂曰：「然。非汝，谁与成之！」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——《资治通鉴》卷一〇五 · 太元八年八月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太元八年八月戊午、甲子 · 公元383年9月14日、20日 · 沙盘 0:15–0:30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第三节 · 全局沙盘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水陆齐进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太元八年九月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公元383年10月13日 — 11月10日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0:30–0:47，共 17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运漕万艘：漕船自黄河入石门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206776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325648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325648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凉州、蜀汉、幽冀之兵分路在途；建康“围棋赌墅”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6807159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6926031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6926031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谢玄、谢石率晋军北上，胡彬水军援寿阳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8407542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8526414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8526414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“九月坚至项城”：坚不出项</a:t>
            </a:r>
            <a:endParaRPr lang="zh-CN" sz="1200" dirty="0"/>
          </a:p>
        </p:txBody>
      </p:sp>
      <p:sp>
        <p:nvSpPr>
          <p:cNvPr id="19" name="beat-5"/>
          <p:cNvSpPr/>
          <p:nvPr/>
        </p:nvSpPr>
        <p:spPr>
          <a:xfrm>
            <a:off x="10007925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20" name="beat-5-time"/>
          <p:cNvSpPr txBox="1"/>
          <p:nvPr/>
        </p:nvSpPr>
        <p:spPr>
          <a:xfrm>
            <a:off x="10126797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秒</a:t>
            </a:r>
            <a:endParaRPr lang="zh-CN" sz="1200" dirty="0"/>
          </a:p>
        </p:txBody>
      </p:sp>
      <p:sp>
        <p:nvSpPr>
          <p:cNvPr id="21" name="beat-5-text"/>
          <p:cNvSpPr txBox="1"/>
          <p:nvPr/>
        </p:nvSpPr>
        <p:spPr>
          <a:xfrm>
            <a:off x="10126797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“谢安却之”；镜头飞向寿阳，换战场沙盘</a:t>
            </a:r>
            <a:endParaRPr lang="zh-CN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第三节 · 水陆齐进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东西万里；晋廷定策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月，苻坚到达项城。这时凉州兵才到咸阳，蜀、汉之兵正顺流而下，幽、冀之兵到了彭城，东西万里，水陆并进，漕船上万艘；苻融等前锋三十万已先到颍口。东晋以尚书仆射谢石为征讨大都督、徐兖二州刺史谢玄为前锋都督，与谢琰、桓伊等共八万迎战，又派胡彬率水军五千援寿阳。京城震恐，谢玄向谢安问计，谢安神色安然，只说“已别有旨”，随即出游山墅，与谢玄围棋赌墅。桓冲派精锐三千入卫京师，谢安坚辞不受；桓冲叹道：天下事已可知，吾其左衽矣！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赌墅：以别墅作赌注下棋。左衽：衣襟左掩，指沦为胡人治下。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「九月，坚至项城，凉州之兵始达咸阳，蜀、汉之兵方顺流而下，幽、冀之兵至于彭城，东西万里，水陆齐进，运漕万艘。阳平公融等兵三十万，先至颍口。」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「安遂命驾出游山墅，亲朋毕集，与玄围棋赌墅。」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「谢安固却之，曰：『朝廷处分已定，兵甲无阙，西藩宜留以为防。』」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——《资治通鉴》卷一〇五 · 太元八年九月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太元八年九月 · 公元383年10月13日 — 11月10日 · 沙盘 0:30–0:47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第四节 · 战场沙盘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寿阳失守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太元八年十月癸酉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公元383年11月28日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0:47–1:02，共 15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胡彬水军沿淮西上，赶援寿阳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206776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325648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325648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苻融前锋自颍口渡淮，进逼寿阳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6807159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6926031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6926031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“攻寿阳”：秦军围城，城中起火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8407542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8526414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8526414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“十月癸酉 寿阳陷落”，城头易帜</a:t>
            </a:r>
            <a:endParaRPr lang="zh-CN" sz="1200" dirty="0"/>
          </a:p>
        </p:txBody>
      </p:sp>
      <p:sp>
        <p:nvSpPr>
          <p:cNvPr id="19" name="beat-5"/>
          <p:cNvSpPr/>
          <p:nvPr/>
        </p:nvSpPr>
        <p:spPr>
          <a:xfrm>
            <a:off x="10007925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20" name="beat-5-time"/>
          <p:cNvSpPr txBox="1"/>
          <p:nvPr/>
        </p:nvSpPr>
        <p:spPr>
          <a:xfrm>
            <a:off x="10126797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秒</a:t>
            </a:r>
            <a:endParaRPr lang="zh-CN" sz="1200" dirty="0"/>
          </a:p>
        </p:txBody>
      </p:sp>
      <p:sp>
        <p:nvSpPr>
          <p:cNvPr id="21" name="beat-5-text"/>
          <p:cNvSpPr txBox="1"/>
          <p:nvPr/>
        </p:nvSpPr>
        <p:spPr>
          <a:xfrm>
            <a:off x="10126797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胡彬折返硖石；第12秒苻融分兵进攻</a:t>
            </a:r>
            <a:endParaRPr lang="zh-CN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第四节 · 寿阳失守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苻融渡淮，胡彬退保硖石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月，苻融率前锋从颍口渡过淮河，进攻寿阳。寿阳就是寿春（今安徽寿县），东晋避讳改称寿阳，城北临淝水，北望八公山。癸酉日（11月28日），寿阳城破，晋平虏将军徐元喜、安丰太守王先被俘，苻融以参军郭褒为淮南太守。胡彬的水军赶来增援，未到城已失陷，只得退守西北淮河峡口的硖石，苻融随即分兵围攻。同月，慕容垂在西线攻克郧城。秦军就此在淮南站稳脚跟，晋军在前沿只剩孤立的硖石。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硖石：淮河穿山而过的峡口，两岸山上各筑一城，扼守渡口。王先被俘一事见《晋书·苻坚载记》。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「冬，十月，秦阳平公融等攻寿阳；癸酉，克之，执平虏将军徐元喜等。融以其参军河南郭褒为淮南太守。慕容垂拔郧城。胡彬闻寿阳陷，退保硖石，融进攻之。」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——《资治通鉴》卷一〇五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「淮水东过寿春县北，右合肥水；又北迳山峡中，谓之峡石，对岸山上结二城，以防津要。」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——胡三省注引《水经注》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太元八年十月癸酉 · 公元383年11月28日 · 沙盘 0:47–1:02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第五节 · 战场沙盘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栅淮遏东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太元八年十月下旬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约公元383年12月初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1:02–1:16，共 14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梁成率众五万东进洛涧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206776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325648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325648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晋军进至洛涧东二十五里扎营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6807159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6926031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6926031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晋军舟师受阻于淮栅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8407542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8526414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8526414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“栅淮以遏东兵”：淮上木栅</a:t>
            </a:r>
            <a:endParaRPr lang="zh-CN" sz="1200" dirty="0"/>
          </a:p>
        </p:txBody>
      </p:sp>
      <p:sp>
        <p:nvSpPr>
          <p:cNvPr id="19" name="beat-5"/>
          <p:cNvSpPr/>
          <p:nvPr/>
        </p:nvSpPr>
        <p:spPr>
          <a:xfrm>
            <a:off x="10007925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20" name="beat-5-time"/>
          <p:cNvSpPr txBox="1"/>
          <p:nvPr/>
        </p:nvSpPr>
        <p:spPr>
          <a:xfrm>
            <a:off x="10126797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秒</a:t>
            </a:r>
            <a:endParaRPr lang="zh-CN" sz="1200" dirty="0"/>
          </a:p>
        </p:txBody>
      </p:sp>
      <p:sp>
        <p:nvSpPr>
          <p:cNvPr id="21" name="beat-5-text"/>
          <p:cNvSpPr txBox="1"/>
          <p:nvPr/>
        </p:nvSpPr>
        <p:spPr>
          <a:xfrm>
            <a:off x="10126797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晋营：“惮成不敢进”</a:t>
            </a:r>
            <a:endParaRPr lang="zh-CN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第五节 · 栅淮遏东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梁成屯洛涧，晋军不敢进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下寿阳后，苻融派卫将军梁成与扬州刺史王显、弋阳太守王咏等率众五万东进，屯驻洛涧（今窑河—洛河一带），并沿淮河竖起木栅，“栅淮以遏东兵”：既截断晋军沿淮西上的水陆通道，也断绝了硖石胡彬与大军会合的可能。《晋书》说梁成曾屡败晋军。谢石、谢玄等进至离洛涧二十五里处扎营（一晋里约合今435米，约11公里），忌惮梁成，不敢前进。沙盘上可以看到晋军舟师被淮上木栅挡住，晋营与梁成营隔着洛涧相持。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栅淮：沿淮河立木栅。遏：阻挡。惮：畏惧。帅：读作“率”。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「秦卫将军梁成等帅众五万屯于洛涧，栅淮以遏东兵。谢石、谢玄等去洛涧二十五里而军，惮成不敢进。」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——《资治通鉴》卷一〇五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「梁成与其扬州刺史王显、弋阳太守王咏等率众五万，屯于洛涧，栅淮以遏东军。成频败王师。」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——《晋书·苻坚载记》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「洛涧上承死马塘水，北历秦墟，下注淮，谓之洛口。」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——胡三省注引《水经注》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太元八年十月下旬 · 约公元383年12月初 · 沙盘 1:02–1:16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第六节 · 战场沙盘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轻骑兼道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太元八年十月下旬 — 十一月初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约公元383年12月上旬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1:16–1:33，共 17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硖石：胡彬粮尽，扬沙示敌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206776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325648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325648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告急使者出硖石，第3秒为秦军所获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6807159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6926031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6926031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苻融驰使项城：“贼少易擒”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8407542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8526414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8526414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苻坚轻骑八千兼道赴寿阳；第7秒“拔舌”令</a:t>
            </a:r>
            <a:endParaRPr lang="zh-CN" sz="1200" dirty="0"/>
          </a:p>
        </p:txBody>
      </p:sp>
      <p:sp>
        <p:nvSpPr>
          <p:cNvPr id="19" name="beat-5"/>
          <p:cNvSpPr/>
          <p:nvPr/>
        </p:nvSpPr>
        <p:spPr>
          <a:xfrm>
            <a:off x="10007925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20" name="beat-5-time"/>
          <p:cNvSpPr txBox="1"/>
          <p:nvPr/>
        </p:nvSpPr>
        <p:spPr>
          <a:xfrm>
            <a:off x="10126797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秒</a:t>
            </a:r>
            <a:endParaRPr lang="zh-CN" sz="1200" dirty="0"/>
          </a:p>
        </p:txBody>
      </p:sp>
      <p:sp>
        <p:nvSpPr>
          <p:cNvPr id="21" name="beat-5-text"/>
          <p:cNvSpPr txBox="1"/>
          <p:nvPr/>
        </p:nvSpPr>
        <p:spPr>
          <a:xfrm>
            <a:off x="10126797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朱序赴晋营；第14秒私谓谢石“宜速击之”</a:t>
            </a:r>
            <a:endParaRPr lang="zh-CN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第六节 · 轻骑兼道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苻坚亲至寿阳，朱序暗中献策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困守硖石的胡彬粮尽，据《晋书》，他扬沙示敌，伪装存粮，暗中派人向谢石告急。信使被秦军截获。苻融立刻派快马报告苻坚：晋军兵少易擒，只怕逃走，应当速来。苻坚于是把大军留在项城，亲率轻骑八千兼程赶到寿阳，还下令“敢言吾至寿春者拔舌”。他派尚书朱序到晋营劝降。朱序原是东晋襄阳守将，襄阳陷落时被俘入秦，此时却私下劝谢石：趁秦军诸部未集，速战，只要打败其前锋，秦军便会丧失锐气。谢石得知苻坚已到，十分恐惧，想坚守不战；谢琰劝他听从朱序之言。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胡注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苻融原本力主晋不可伐，“今临敌乃轻脱如此，亦天夺其鉴也。”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「胡彬粮尽，潜遣使告石等曰：『今贼盛粮尽，恐不复见大军！』秦人获之，送于阳平公融。融驰使白秦王坚曰：『贼少易擒，但恐逃去，宜速赴之！』坚乃留大军于项城，引轻骑八千，兼道就融于寿阳。」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「序私谓石等曰：『若秦百万之众尽至，诚难与为敌。今乘诸军未集，宜速击之；若败其前锋，则彼已夺气，可遂破也。』」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——《资治通鉴》卷一〇五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太元八年十月下旬 — 十一月初 · 约公元383年12月上旬 · 沙盘 1:16–1:33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第七节 · 战场沙盘 · 夜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洛涧夜袭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太元八年十一月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公元383年12月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1:33–1:50，共 17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刘牢之精兵五千举火奔袭洛涧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206776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325648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325648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“直前渡水”，涉洛涧猛攻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6807159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6926031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6926031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分兵断其归津；“洛涧之战”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8407542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8526414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8526414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斩梁成、王咏，梁成牙旗倒地</a:t>
            </a:r>
            <a:endParaRPr lang="zh-CN" sz="1200" dirty="0"/>
          </a:p>
        </p:txBody>
      </p:sp>
      <p:sp>
        <p:nvSpPr>
          <p:cNvPr id="19" name="beat-5"/>
          <p:cNvSpPr/>
          <p:nvPr/>
        </p:nvSpPr>
        <p:spPr>
          <a:xfrm>
            <a:off x="10007925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20" name="beat-5-time"/>
          <p:cNvSpPr txBox="1"/>
          <p:nvPr/>
        </p:nvSpPr>
        <p:spPr>
          <a:xfrm>
            <a:off x="10126797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秒</a:t>
            </a:r>
            <a:endParaRPr lang="zh-CN" sz="1200" dirty="0"/>
          </a:p>
        </p:txBody>
      </p:sp>
      <p:sp>
        <p:nvSpPr>
          <p:cNvPr id="21" name="beat-5-text"/>
          <p:cNvSpPr txBox="1"/>
          <p:nvPr/>
        </p:nvSpPr>
        <p:spPr>
          <a:xfrm>
            <a:off x="10126797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秦军崩溃，争赴淮水；第12秒“死者万五千人”</a:t>
            </a:r>
            <a:endParaRPr lang="zh-CN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第七节 · 洛涧夜袭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刘牢之五千破梁成五万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月，谢玄派广陵相刘牢之率精兵五千奔袭洛涧。离洛涧还有十里，梁成已依托洛涧列阵等待。刘牢之挥兵直前渡水，猛攻梁成，大破秦军，阵斩梁成和弋阳太守王咏，又分兵截断秦军撤往淮河渡口的退路。秦军步骑崩溃，争相逃向淮水，士卒死者一万五千人，扬州刺史王显等被俘，器械军资尽为晋军所得。《晋书·苻坚载记》称此役为“夜袭梁成垒”，沙盘因此以夜景呈现。以五千破五万，这一仗是淝水决战的序幕：晋军士气大振，秦军锐气受挫。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趣：奔赴（读 qū）。陈：同“阵”。归津：退路上的渡口。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「十一月，谢玄遣广陵相刘牢之帅精兵五千趣洛涧，未至十里，梁成阻涧为陈以待之。牢之直前渡水，击成，大破之，斩成及弋阳太守王咏；又分兵断其归津，秦步骑崩溃，争赴淮水，士卒死者万五千人。」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——《资治通鉴》卷一〇五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「晋龙骧将军刘牢之率劲卒五千，夜袭梁成垒，克之。」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——《晋书·苻坚载记》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太元八年十一月 · 公元383年12月 · 沙盘 1:33–1:50（夜景）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第八节 · 战场沙盘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草木皆兵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太元八年十一月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公元383年12月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1:50–2:08，共 18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晋军水陆继进：舟师溯淮，步骑西进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206776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325648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325648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张蚝出击；围硖石的秦军撤回淝水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6807159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6926031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6926031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肥南交战：谢玄、谢琰列阵，张蚝退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8407542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8526414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8526414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“草木皆兵”：八公山草木化作人形</a:t>
            </a:r>
            <a:endParaRPr lang="zh-CN" sz="1200" dirty="0"/>
          </a:p>
        </p:txBody>
      </p:sp>
      <p:sp>
        <p:nvSpPr>
          <p:cNvPr id="19" name="beat-5"/>
          <p:cNvSpPr/>
          <p:nvPr/>
        </p:nvSpPr>
        <p:spPr>
          <a:xfrm>
            <a:off x="10007925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20" name="beat-5-time"/>
          <p:cNvSpPr txBox="1"/>
          <p:nvPr/>
        </p:nvSpPr>
        <p:spPr>
          <a:xfrm>
            <a:off x="10126797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秒</a:t>
            </a:r>
            <a:endParaRPr lang="zh-CN" sz="1200" dirty="0"/>
          </a:p>
        </p:txBody>
      </p:sp>
      <p:sp>
        <p:nvSpPr>
          <p:cNvPr id="21" name="beat-5-text"/>
          <p:cNvSpPr txBox="1"/>
          <p:nvPr/>
        </p:nvSpPr>
        <p:spPr>
          <a:xfrm>
            <a:off x="10126797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苻坚：“此亦勍敌，何谓弱也！”镜头登城北望</a:t>
            </a:r>
            <a:endParaRPr lang="zh-CN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第八节 · 草木皆兵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晋军水陆继进，苻坚登城北望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洛涧大捷后，谢石等诸军水陆继进：步骑沿淮南岸西进，到达八公山下、淝水北岸，舟师也溯淮而上。苻坚与苻融登上寿阳城眺望，只见晋军部阵严整，又望见北面八公山上的草木，以为都是晋兵，回头对苻融说：“这也是劲敌，怎能说它弱呢！”怅然失意，开始有了惧色，“草木皆兵”即出于此。《晋书》还记载，秦将张蚝曾在淝水南击败谢石，谢玄、谢琰列阵数万相待，张蚝才退回淝水岸边列阵。郦道元后来评论：这不是八公山神灵相助，而是苻氏将亡时的迷惑。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勍敌：强敌（胡注：勍，强也）。怃然：怅然失意的样子。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「于是谢石等诸军，水陆继进。秦王坚与阳平公融登寿阳城望之，见晋兵部阵严整，又望八公山上草木皆以为晋兵，顾谓融曰：『此亦勍敌，何谓弱也！』怃然始有惧色。」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——《资治通鉴》卷一〇五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「坚望山上草木，咸为人状，此即坚战败处。非八公之灵有助，盖苻氏将亡之惑也。」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——郦道元《水经注·肥水》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太元八年十一月 · 公元383年12月 · 沙盘 1:50–2:08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第九节 · 战场沙盘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临淝对峙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太元八年十一月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公元383年12月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2:08–2:24，共 16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872463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634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6347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金色点线：谢玄遣使渡水，请秦军“移陈少却”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606872" y="5230368"/>
            <a:ext cx="1872463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725744" y="5321808"/>
            <a:ext cx="1634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725744" y="5577840"/>
            <a:ext cx="16347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秦诸将：“我众彼寡，不如遏之，使不得上”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7607351" y="5230368"/>
            <a:ext cx="1872463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7726223" y="5321808"/>
            <a:ext cx="1634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7726223" y="5577840"/>
            <a:ext cx="16347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空心虚线：苻坚之计“半渡而击”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9607829" y="5230368"/>
            <a:ext cx="1872463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9726701" y="5321808"/>
            <a:ext cx="16347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9726701" y="5577840"/>
            <a:ext cx="163471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苻坚：“我以铁骑蹙而杀之，蔑不胜矣！”</a:t>
            </a:r>
            <a:endParaRPr lang="zh-CN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第九节 · 临淝对峙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谢玄请战，苻坚欲“半渡而击”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军紧逼淝水南岸列阵，晋军无法渡河。谢玄派使者对苻融说：您孤军深入，却紧靠河岸布阵，这是持久之计，不是想速战；若把阵地稍稍后移，让晋军渡过河来，一决胜负，不也很好吗？秦军诸将都说：我众敌寡，不如把他们挡在对岸，使不得上岸，可保万全。苻坚却认为：只要稍稍退兵，等晋军渡到一半，用铁骑冲上去围杀，必胜无疑。苻融也以为然，于是挥旗命秦军后撤。“半渡而击”本是兵法常谈，可大军一旦开始后退，便难以收住，下一节的变化正源于这一声令下。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悬军：孤军深入。少却：稍稍后退。蹙：逼迫。蔑：无。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秦兵逼肥水而陈，晋兵不得渡。谢玄遣使谓阳平公融曰：『君悬军深入，而置陈逼水，此乃持久之计，非欲速战者也。若移陈少却，使晋兵得渡，以决胜负，不亦善乎！』……坚曰：『但引兵少却，使之半渡，我以铁骑蹙而杀之，蔑不胜矣！』融亦以为然，遂麾兵使却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——《资治通鉴》卷一〇五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太元八年十一月 · 公元383年12月 · 沙盘 2:08–2:24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第十节 · 战场沙盘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淝水决战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太元八年十一月（一说十月乙亥）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公元383年12月（一说11月30日）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2:24–2:44，共 20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秦军奉命后撤：“麾兵使却”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206776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325648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325648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谢玄、谢琰、桓伊精锐八千涉渡淝水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6807159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6926031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6926031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朱序阵后大呼“秦兵败矣！”，后撤变溃逃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8407542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8526414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8526414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苻融驰骑略阵，马倒被杀，牙旗倒地</a:t>
            </a:r>
            <a:endParaRPr lang="zh-CN" sz="1200" dirty="0"/>
          </a:p>
        </p:txBody>
      </p:sp>
      <p:sp>
        <p:nvSpPr>
          <p:cNvPr id="19" name="beat-5"/>
          <p:cNvSpPr/>
          <p:nvPr/>
        </p:nvSpPr>
        <p:spPr>
          <a:xfrm>
            <a:off x="10007925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20" name="beat-5-time"/>
          <p:cNvSpPr txBox="1"/>
          <p:nvPr/>
        </p:nvSpPr>
        <p:spPr>
          <a:xfrm>
            <a:off x="10126797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秒</a:t>
            </a:r>
            <a:endParaRPr lang="zh-CN" sz="1200" dirty="0"/>
          </a:p>
        </p:txBody>
      </p:sp>
      <p:sp>
        <p:nvSpPr>
          <p:cNvPr id="21" name="beat-5-text"/>
          <p:cNvSpPr txBox="1"/>
          <p:nvPr/>
        </p:nvSpPr>
        <p:spPr>
          <a:xfrm>
            <a:off x="10126797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“肥水为之不流”，河水转暗；苻坚中流矢</a:t>
            </a:r>
            <a:endParaRPr lang="zh-CN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第十节 · 淝水决战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秦兵遂退，不可复止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军一后撤，便再也收不住。谢玄、谢琰、桓伊率精锐八千涉渡淝水；谢石的部队抵挡张蚝，一度小退，谢玄、谢琰仍旧猛进，决战于淝水之南。这时朱序在秦阵后大喊：“秦兵败矣！”秦军随即全线奔逃。苻融骑马在阵间奔驰，想约束后退的士兵，战马倒地，被晋兵杀死。秦军彻底崩溃，自相践踏、落水而死者不计其数，“肥水为之不流”。苻坚也在乱军中被流矢射中。沙盘上，蓝色的秦军阵线由后撤变为溃逃，红色的晋军渡河追击，淝水被染成暗色。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略陈：在阵前巡行。帅：读作“率”，约束。蹈藉：践踏。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「秦兵遂退，不可复止。……融驰骑略陈，欲以帅退者，马倒，为晋兵所杀，秦兵遂溃。……初，秦兵少却，朱序在陈后呼曰：『秦兵败矣！』众遂大奔。」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——《资治通鉴》卷一〇五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「于是玄与琰、伊等以精锐八千涉渡肥水。……坚众奔溃，自相蹈藉投水死者不可胜计，肥水为之不流。」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——《晋书·谢玄传》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太元八年十一月（一说十月乙亥）· 公元383年12月（一说11月30日）· 沙盘 2:24–2:44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第十一节 · 战场沙盘 · 黄昏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风声鹤唳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决战当日及其后数日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公元383年冬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2:44–3:02，共 18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苻坚中流矢，单骑走淮北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206776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325648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325648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“风声鹤唳”：风线与鹤群掠过溃兵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6807159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6926031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6926031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朱序、张天锡、徐元喜来奔；第5秒获云母车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8407542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8526414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8526414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晋军复取寿阳，执郭褒</a:t>
            </a:r>
            <a:endParaRPr lang="zh-CN" sz="1200" dirty="0"/>
          </a:p>
        </p:txBody>
      </p:sp>
      <p:sp>
        <p:nvSpPr>
          <p:cNvPr id="19" name="beat-5"/>
          <p:cNvSpPr/>
          <p:nvPr/>
        </p:nvSpPr>
        <p:spPr>
          <a:xfrm>
            <a:off x="10007925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20" name="beat-5-time"/>
          <p:cNvSpPr txBox="1"/>
          <p:nvPr/>
        </p:nvSpPr>
        <p:spPr>
          <a:xfrm>
            <a:off x="10126797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秒</a:t>
            </a:r>
            <a:endParaRPr lang="zh-CN" sz="1200" dirty="0"/>
          </a:p>
        </p:txBody>
      </p:sp>
      <p:sp>
        <p:nvSpPr>
          <p:cNvPr id="21" name="beat-5-text"/>
          <p:cNvSpPr txBox="1"/>
          <p:nvPr/>
        </p:nvSpPr>
        <p:spPr>
          <a:xfrm>
            <a:off x="10126797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追至青冈，“蔽野塞川”</a:t>
            </a:r>
            <a:endParaRPr lang="zh-CN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第十一节 · 风声鹤唳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追至青冈，收复寿阳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晋军乘胜追击，一直追到青冈。秦兵大败，自相践踏而死者“蔽野塞川”。逃兵听到风声和鹤鸣，都以为晋兵追来，昼夜不敢停歇，不走大路而穿行草野，夜里露宿荒郊，加上饥饿寒冷，死者十之七八。苻坚身中流矢，单骑逃到淮北，饥饿难耐，有百姓献上饭食和猪腿，苻坚要赏赐他，他推辞不受。苻坚对张夫人说：“我还有什么脸面治理天下！”潸然泪下。朱序与张天锡、徐元喜趁乱归晋；晋军缴获苻坚所乘的云母车，收复寿阳，俘获淮南太守郭褒。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青冈：胡注“去今寿春县三十里”，确址无考。壶飧：用壶盛的熟食。什七、八：十分之七八。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「玄等乘胜追击，至于青冈；秦兵大败，自相蹈藉而死者，蔽野塞川。其走者闻风声鹤唳，皆以为晋兵且至，昼夜不敢息，草行露宿，重以饥冻，死者什七、八。」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——《资治通鉴》卷一〇五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「草行者，涉草而行，不敢由路；露宿者，宿于野次，不敢入人家；皆惧追兵也。」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——胡三省注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决战当日及其后数日 · 公元383年冬 · 沙盘 2:44–3:02（黄昏）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第十二节 · 全局沙盘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小儿破贼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太元八年十一月 — 十二月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公元383年12月 — 384年1月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3:02–3:17，共 15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0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金色点线：驿书自寿阳报捷建康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206776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325648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325648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郧城：唯慕容垂三万人独全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6807159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6926031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6926031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建康：“小儿辈遂已破贼”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8407542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8526414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8526414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苻坚收集离散至洛阳；第5秒谢石班师</a:t>
            </a:r>
            <a:endParaRPr lang="zh-CN" sz="1200" dirty="0"/>
          </a:p>
        </p:txBody>
      </p:sp>
      <p:sp>
        <p:nvSpPr>
          <p:cNvPr id="19" name="beat-5"/>
          <p:cNvSpPr/>
          <p:nvPr/>
        </p:nvSpPr>
        <p:spPr>
          <a:xfrm>
            <a:off x="10007925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20" name="beat-5-time"/>
          <p:cNvSpPr txBox="1"/>
          <p:nvPr/>
        </p:nvSpPr>
        <p:spPr>
          <a:xfrm>
            <a:off x="10126797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秒</a:t>
            </a:r>
            <a:endParaRPr lang="zh-CN" sz="1200" dirty="0"/>
          </a:p>
        </p:txBody>
      </p:sp>
      <p:sp>
        <p:nvSpPr>
          <p:cNvPr id="21" name="beat-5-text"/>
          <p:cNvSpPr txBox="1"/>
          <p:nvPr/>
        </p:nvSpPr>
        <p:spPr>
          <a:xfrm>
            <a:off x="10126797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十二月苻坚至长安，哭苻融而后入</a:t>
            </a:r>
            <a:endParaRPr lang="zh-CN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第十二节 · 小儿破贼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谢安围棋，苻坚北还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驿书飞报建康时，谢安正与客人下棋。他看完捷报，随手放在床上，脸上毫无喜色，照旧下棋。客人问起，他才慢慢答道：“小儿辈遂已破贼。”下完棋回内室，跨过门槛时，木屐的齿折断了都没有察觉，《晋书》说这是他“矫情镇物”。另一边，秦军诸部皆溃，只有慕容垂所部三万人完好，苻坚带着千余骑投奔他。慕容宝等人劝慕容垂趁机除掉苻坚，慕容垂不从，把兵权交还苻坚。苻坚一路收集离散，到洛阳时有十余万人；十二月回到长安，先哭祭苻融，然后入城。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户限：门槛。屐齿：木屐底部的齿。胡注：慕容垂“别击郧城，不与淝水之战，且持军严整”，故独全。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「谢安得驿书，知秦兵已败，时方与客围棋，摄书置床上，了无喜色，围棋如故。客问之，徐答曰：『小儿辈遂已破贼。』既罢，还内，过户限，不觉屐齿之折。」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「是时，诸军皆溃，惟慕容垂所将三万人独全，坚以千余骑赴之。」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——《资治通鉴》卷一〇五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太元八年十一月 — 十二月 · 公元383年12月 — 384年1月 · 沙盘 3:02–3:17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711403" y="49011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第十三节 · 全局沙盘 · 黄昏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711403" y="5175504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4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南北再分</a:t>
            </a:r>
            <a:endParaRPr lang="zh-CN" sz="4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711403" y="5907024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太元九年 — 十年</a:t>
            </a:r>
            <a:endParaRPr lang="zh-CN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公元384 — 385年</a:t>
            </a:r>
            <a:endParaRPr lang="zh-CN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3606394" y="4901184"/>
            <a:ext cx="78738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沙盘节拍　本节 3:17–3:35，共 18 秒（1× 速度）</a:t>
            </a:r>
            <a:endParaRPr lang="zh-CN" sz="1200" dirty="0"/>
          </a:p>
        </p:txBody>
      </p:sp>
      <p:sp>
        <p:nvSpPr>
          <p:cNvPr id="7" name="beat-1"/>
          <p:cNvSpPr/>
          <p:nvPr/>
        </p:nvSpPr>
        <p:spPr>
          <a:xfrm>
            <a:off x="3606394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8" name="beat-1-time"/>
          <p:cNvSpPr txBox="1"/>
          <p:nvPr/>
        </p:nvSpPr>
        <p:spPr>
          <a:xfrm>
            <a:off x="3725266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秒</a:t>
            </a:r>
            <a:endParaRPr lang="zh-CN" sz="1200" dirty="0"/>
          </a:p>
        </p:txBody>
      </p:sp>
      <p:sp>
        <p:nvSpPr>
          <p:cNvPr id="9" name="beat-1-text"/>
          <p:cNvSpPr txBox="1"/>
          <p:nvPr/>
        </p:nvSpPr>
        <p:spPr>
          <a:xfrm>
            <a:off x="3725266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黑箭头：慕容垂东去复燕；红箭头：谢玄北伐</a:t>
            </a:r>
            <a:endParaRPr lang="zh-CN" sz="1200" dirty="0"/>
          </a:p>
        </p:txBody>
      </p:sp>
      <p:sp>
        <p:nvSpPr>
          <p:cNvPr id="10" name="beat-2"/>
          <p:cNvSpPr/>
          <p:nvPr/>
        </p:nvSpPr>
        <p:spPr>
          <a:xfrm>
            <a:off x="5206776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1" name="beat-2-time"/>
          <p:cNvSpPr txBox="1"/>
          <p:nvPr/>
        </p:nvSpPr>
        <p:spPr>
          <a:xfrm>
            <a:off x="5325648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秒</a:t>
            </a:r>
            <a:endParaRPr lang="zh-CN" sz="1200" dirty="0"/>
          </a:p>
        </p:txBody>
      </p:sp>
      <p:sp>
        <p:nvSpPr>
          <p:cNvPr id="12" name="beat-2-text"/>
          <p:cNvSpPr txBox="1"/>
          <p:nvPr/>
        </p:nvSpPr>
        <p:spPr>
          <a:xfrm>
            <a:off x="5325648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黑箭头：姚苌自立（后秦）</a:t>
            </a:r>
            <a:endParaRPr lang="zh-CN" sz="1200" dirty="0"/>
          </a:p>
        </p:txBody>
      </p:sp>
      <p:sp>
        <p:nvSpPr>
          <p:cNvPr id="13" name="beat-3"/>
          <p:cNvSpPr/>
          <p:nvPr/>
        </p:nvSpPr>
        <p:spPr>
          <a:xfrm>
            <a:off x="6807159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4" name="beat-3-time"/>
          <p:cNvSpPr txBox="1"/>
          <p:nvPr/>
        </p:nvSpPr>
        <p:spPr>
          <a:xfrm>
            <a:off x="6926031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秒</a:t>
            </a:r>
            <a:endParaRPr lang="zh-CN" sz="1200" dirty="0"/>
          </a:p>
        </p:txBody>
      </p:sp>
      <p:sp>
        <p:nvSpPr>
          <p:cNvPr id="15" name="beat-3-text"/>
          <p:cNvSpPr txBox="1"/>
          <p:nvPr/>
        </p:nvSpPr>
        <p:spPr>
          <a:xfrm>
            <a:off x="6926031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疆界线自383年向385年推移，至第13秒</a:t>
            </a:r>
            <a:endParaRPr lang="zh-CN" sz="1200" dirty="0"/>
          </a:p>
        </p:txBody>
      </p:sp>
      <p:sp>
        <p:nvSpPr>
          <p:cNvPr id="16" name="beat-4"/>
          <p:cNvSpPr/>
          <p:nvPr/>
        </p:nvSpPr>
        <p:spPr>
          <a:xfrm>
            <a:off x="8407542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17" name="beat-4-time"/>
          <p:cNvSpPr txBox="1"/>
          <p:nvPr/>
        </p:nvSpPr>
        <p:spPr>
          <a:xfrm>
            <a:off x="8526414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秒</a:t>
            </a:r>
            <a:endParaRPr lang="zh-CN" sz="1200" dirty="0"/>
          </a:p>
        </p:txBody>
      </p:sp>
      <p:sp>
        <p:nvSpPr>
          <p:cNvPr id="18" name="beat-4-text"/>
          <p:cNvSpPr txBox="1"/>
          <p:nvPr/>
        </p:nvSpPr>
        <p:spPr>
          <a:xfrm>
            <a:off x="8526414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后秦、后燕、东晋北伐相继标出</a:t>
            </a:r>
            <a:endParaRPr lang="zh-CN" sz="1200" dirty="0"/>
          </a:p>
        </p:txBody>
      </p:sp>
      <p:sp>
        <p:nvSpPr>
          <p:cNvPr id="19" name="beat-5"/>
          <p:cNvSpPr/>
          <p:nvPr/>
        </p:nvSpPr>
        <p:spPr>
          <a:xfrm>
            <a:off x="10007925" y="5230368"/>
            <a:ext cx="1472367" cy="1207008"/>
          </a:xfrm>
          <a:prstGeom prst="roundRect">
            <a:avLst>
              <a:gd name="adj" fmla="val 6061"/>
            </a:avLst>
          </a:prstGeom>
          <a:solidFill>
            <a:srgbClr val="241C16"/>
          </a:solidFill>
          <a:ln w="12700">
            <a:solidFill>
              <a:srgbClr val="241C16"/>
            </a:solidFill>
            <a:prstDash val="solid"/>
          </a:ln>
        </p:spPr>
      </p:sp>
      <p:sp>
        <p:nvSpPr>
          <p:cNvPr id="20" name="beat-5-time"/>
          <p:cNvSpPr txBox="1"/>
          <p:nvPr/>
        </p:nvSpPr>
        <p:spPr>
          <a:xfrm>
            <a:off x="10126797" y="5321808"/>
            <a:ext cx="12346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秒</a:t>
            </a:r>
            <a:endParaRPr lang="zh-CN" sz="1200" dirty="0"/>
          </a:p>
        </p:txBody>
      </p:sp>
      <p:sp>
        <p:nvSpPr>
          <p:cNvPr id="21" name="beat-5-text"/>
          <p:cNvSpPr txBox="1"/>
          <p:nvPr/>
        </p:nvSpPr>
        <p:spPr>
          <a:xfrm>
            <a:off x="10126797" y="5577840"/>
            <a:ext cx="123462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385年八月，苻坚死于新平</a:t>
            </a:r>
            <a:endParaRPr lang="zh-CN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/>
          <p:cNvSpPr/>
          <p:nvPr>
            <p:ph idx="102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第十三节 · 南北再分 · 故事与原文</a:t>
            </a:r>
            <a:endParaRPr lang="zh-CN" sz="1200" dirty="0"/>
          </a:p>
        </p:txBody>
      </p:sp>
      <p:sp>
        <p:nvSpPr>
          <p:cNvPr id="4" name="Text 2"/>
          <p:cNvSpPr/>
          <p:nvPr>
            <p:ph idx="103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前秦瓦解，东晋北伐</a:t>
            </a:r>
            <a:endParaRPr lang="zh-CN" sz="32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812902" y="1737360"/>
            <a:ext cx="558789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猛临终时曾劝苻坚：东晋虽偏处吴越，却是正统相承，不要以晋为敌；鲜卑、羌人才是心腹之患。淝水一败，这话应验了。太元九年（384年）正月，慕容垂在荥阳自称燕王，率众二十余万自石门渡河，进逼邺城，史称后燕；同年，姚苌在渭北自称万年秦王，史称后秦；慕容泓、慕容冲等也相继起兵。东晋乘势北伐，谢玄收复兖、青、司、豫诸州，兵锋抵于黄河。太元十年（385年），苻坚被姚苌缢杀于新平佛寺，年四十八。北方再度分裂，直到439年北魏才重新统一。</a:t>
            </a:r>
            <a:endParaRPr lang="zh-CN" sz="15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812902" y="5413248"/>
            <a:ext cx="558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zh-CN" altLang="en-US" sz="12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　</a:t>
            </a:r>
            <a:pPr algn="l" indent="0" marL="0">
              <a:lnSpc>
                <a:spcPct val="115000"/>
              </a:lnSpc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正朔相承：历代正统相传。图：图谋、攻伐。禅代：让位改朝。</a:t>
            </a:r>
            <a:endParaRPr lang="zh-CN" sz="12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059168" y="2249424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「晋虽僻陋吴、越，乃正朔相承。亲仁善邻，国之宝也。臣没之后，愿不以晋为图。鲜卑、羌虏，我之仇也，终为人患，宜渐除之，以便社稷。」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——王猛临终语（375年）·《晋书·王猛载记》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zh-CN" altLang="en-US" sz="15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「坚既不许苌以禅代，骂而求死，苌乃缢坚于新平佛寺中，时年四十八。」</a:t>
            </a:r>
            <a:endParaRPr lang="zh-CN" sz="15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zh-CN" altLang="en-US" sz="11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——《晋书·苻坚载记》</a:t>
            </a:r>
            <a:endParaRPr lang="zh-CN" sz="1500" dirty="0"/>
          </a:p>
        </p:txBody>
      </p:sp>
      <p:sp>
        <p:nvSpPr>
          <p:cNvPr id="8" name="Text 2"/>
          <p:cNvSpPr/>
          <p:nvPr>
            <p:ph idx="107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太元九年 — 十年 · 公元384 — 385年 · 沙盘 3:17–3:35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rgbClr val="F0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 · 成语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沙盘上的三方印章</a:t>
            </a:r>
            <a:endParaRPr lang="zh-CN" sz="3200" dirty="0"/>
          </a:p>
        </p:txBody>
      </p:sp>
      <p:sp>
        <p:nvSpPr>
          <p:cNvPr id="5" name="idiom-1"/>
          <p:cNvSpPr/>
          <p:nvPr/>
        </p:nvSpPr>
        <p:spPr>
          <a:xfrm>
            <a:off x="812902" y="1737360"/>
            <a:ext cx="3339084" cy="3429000"/>
          </a:xfrm>
          <a:prstGeom prst="roundRect">
            <a:avLst>
              <a:gd name="adj" fmla="val 2191"/>
            </a:avLst>
          </a:prstGeom>
          <a:solidFill>
            <a:srgbClr val="962B24"/>
          </a:solidFill>
          <a:ln w="12700">
            <a:solidFill>
              <a:srgbClr val="962B2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7222" y="2011680"/>
            <a:ext cx="2790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0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投鞭断流</a:t>
            </a:r>
            <a:endParaRPr lang="zh-CN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087222" y="2788920"/>
            <a:ext cx="2790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F0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第一节 · 苻坚语</a:t>
            </a:r>
            <a:endParaRPr lang="zh-CN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87222" y="3200400"/>
            <a:ext cx="27904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「以吾之众旅，投鞭于江，足断其流。」</a:t>
            </a:r>
            <a:endParaRPr lang="zh-CN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087222" y="4251960"/>
            <a:ext cx="279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F0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形容兵多势众。苻坚以此夸口，终至大败。——《晋书·苻坚载记》</a:t>
            </a:r>
            <a:endParaRPr lang="zh-CN" sz="1200" dirty="0"/>
          </a:p>
        </p:txBody>
      </p:sp>
      <p:sp>
        <p:nvSpPr>
          <p:cNvPr id="10" name="idiom-2"/>
          <p:cNvSpPr/>
          <p:nvPr/>
        </p:nvSpPr>
        <p:spPr>
          <a:xfrm>
            <a:off x="4426306" y="1737360"/>
            <a:ext cx="3339084" cy="3429000"/>
          </a:xfrm>
          <a:prstGeom prst="roundRect">
            <a:avLst>
              <a:gd name="adj" fmla="val 2191"/>
            </a:avLst>
          </a:prstGeom>
          <a:solidFill>
            <a:srgbClr val="962B24"/>
          </a:solidFill>
          <a:ln w="12700">
            <a:solidFill>
              <a:srgbClr val="962B2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700626" y="2011680"/>
            <a:ext cx="2790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0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草木皆兵</a:t>
            </a:r>
            <a:endParaRPr lang="zh-CN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700626" y="2788920"/>
            <a:ext cx="2790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F0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第八节 · 苻坚登城北望</a:t>
            </a:r>
            <a:endParaRPr lang="zh-CN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00626" y="3200400"/>
            <a:ext cx="27904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「又北望八公山上草木，皆类人形。」</a:t>
            </a:r>
            <a:endParaRPr lang="zh-CN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700626" y="4251960"/>
            <a:ext cx="279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F0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形容惊慌之时疑神疑鬼。——《晋书·苻坚载记》</a:t>
            </a:r>
            <a:endParaRPr lang="zh-CN" sz="1200" dirty="0"/>
          </a:p>
        </p:txBody>
      </p:sp>
      <p:sp>
        <p:nvSpPr>
          <p:cNvPr id="15" name="idiom-3"/>
          <p:cNvSpPr/>
          <p:nvPr/>
        </p:nvSpPr>
        <p:spPr>
          <a:xfrm>
            <a:off x="8039710" y="1737360"/>
            <a:ext cx="3339084" cy="3429000"/>
          </a:xfrm>
          <a:prstGeom prst="roundRect">
            <a:avLst>
              <a:gd name="adj" fmla="val 2191"/>
            </a:avLst>
          </a:prstGeom>
          <a:solidFill>
            <a:srgbClr val="962B24"/>
          </a:solidFill>
          <a:ln w="12700">
            <a:solidFill>
              <a:srgbClr val="962B2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14030" y="2011680"/>
            <a:ext cx="27904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0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风声鹤唳</a:t>
            </a:r>
            <a:endParaRPr lang="zh-CN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8314030" y="2788920"/>
            <a:ext cx="2790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F0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第十一节 · 秦军溃逃</a:t>
            </a:r>
            <a:endParaRPr lang="zh-CN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314030" y="3200400"/>
            <a:ext cx="27904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「其走者闻风声鹤唳，皆以为晋兵且至。」</a:t>
            </a:r>
            <a:endParaRPr lang="zh-CN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8314030" y="4251960"/>
            <a:ext cx="27904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F0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形容惊恐万状，自相惊扰。——《资治通鉴》卷一〇五</a:t>
            </a:r>
            <a:endParaRPr lang="zh-CN" sz="1200" dirty="0"/>
          </a:p>
        </p:txBody>
      </p:sp>
      <p:sp>
        <p:nvSpPr>
          <p:cNvPr id="20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F0D6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第十二节谢安的“小儿辈遂已破贼”，也常被引作临大事而镇定的典故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0D6C4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 · 胜负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以少胜多：史书里的四条线索</a:t>
            </a:r>
            <a:endParaRPr lang="zh-CN" sz="3200" dirty="0"/>
          </a:p>
        </p:txBody>
      </p:sp>
      <p:sp>
        <p:nvSpPr>
          <p:cNvPr id="5" name="why-1"/>
          <p:cNvSpPr/>
          <p:nvPr/>
        </p:nvSpPr>
        <p:spPr>
          <a:xfrm>
            <a:off x="812902" y="1737360"/>
            <a:ext cx="5145786" cy="1828800"/>
          </a:xfrm>
          <a:prstGeom prst="roundRect">
            <a:avLst>
              <a:gd name="adj" fmla="val 4000"/>
            </a:avLst>
          </a:prstGeom>
          <a:solidFill>
            <a:srgbClr val="E9DFCA"/>
          </a:solidFill>
          <a:ln w="12700">
            <a:solidFill>
              <a:srgbClr val="E9DFC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7222" y="1938528"/>
            <a:ext cx="4597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　兵未集而先战</a:t>
            </a:r>
            <a:endParaRPr lang="zh-CN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87222" y="2340864"/>
            <a:ext cx="45971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苻坚“留大军于项城”，凉州、蜀汉、幽冀之兵尚在途中。朱序“乘诸军未集，宜速击之”，晋军正是抓住了这个空档。</a:t>
            </a:r>
            <a:endParaRPr lang="zh-CN" sz="1500" dirty="0"/>
          </a:p>
        </p:txBody>
      </p:sp>
      <p:sp>
        <p:nvSpPr>
          <p:cNvPr id="8" name="why-2"/>
          <p:cNvSpPr/>
          <p:nvPr/>
        </p:nvSpPr>
        <p:spPr>
          <a:xfrm>
            <a:off x="6233008" y="1737360"/>
            <a:ext cx="5145786" cy="1828800"/>
          </a:xfrm>
          <a:prstGeom prst="roundRect">
            <a:avLst>
              <a:gd name="adj" fmla="val 4000"/>
            </a:avLst>
          </a:prstGeom>
          <a:solidFill>
            <a:srgbClr val="E9DFCA"/>
          </a:solidFill>
          <a:ln w="12700">
            <a:solidFill>
              <a:srgbClr val="E9DFC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7328" y="1938528"/>
            <a:ext cx="4597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前锋先挫，秦军夺气</a:t>
            </a:r>
            <a:endParaRPr lang="zh-CN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07328" y="2340864"/>
            <a:ext cx="45971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洛涧一战，五千破五万，“士卒死者万五千人”；苻坚随后登城望见八公山草木，已“怃然始有惧色”。</a:t>
            </a:r>
            <a:endParaRPr lang="zh-CN" sz="1500" dirty="0"/>
          </a:p>
        </p:txBody>
      </p:sp>
      <p:sp>
        <p:nvSpPr>
          <p:cNvPr id="11" name="why-3"/>
          <p:cNvSpPr/>
          <p:nvPr/>
        </p:nvSpPr>
        <p:spPr>
          <a:xfrm>
            <a:off x="812902" y="3840480"/>
            <a:ext cx="5145786" cy="1828800"/>
          </a:xfrm>
          <a:prstGeom prst="roundRect">
            <a:avLst>
              <a:gd name="adj" fmla="val 4000"/>
            </a:avLst>
          </a:prstGeom>
          <a:solidFill>
            <a:srgbClr val="E9DFCA"/>
          </a:solidFill>
          <a:ln w="12700">
            <a:solidFill>
              <a:srgbClr val="E9DFC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87222" y="4041648"/>
            <a:ext cx="4597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移阵之失</a:t>
            </a:r>
            <a:endParaRPr lang="zh-CN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87222" y="4443984"/>
            <a:ext cx="45971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苻坚欲“半渡而击”，令大军后撤，结果“秦兵遂退，不可复止”；朱序阵后一呼，后撤变成了溃逃。</a:t>
            </a:r>
            <a:endParaRPr lang="zh-CN" sz="1500" dirty="0"/>
          </a:p>
        </p:txBody>
      </p:sp>
      <p:sp>
        <p:nvSpPr>
          <p:cNvPr id="14" name="why-4"/>
          <p:cNvSpPr/>
          <p:nvPr/>
        </p:nvSpPr>
        <p:spPr>
          <a:xfrm>
            <a:off x="6233008" y="3840480"/>
            <a:ext cx="5145786" cy="1828800"/>
          </a:xfrm>
          <a:prstGeom prst="roundRect">
            <a:avLst>
              <a:gd name="adj" fmla="val 4000"/>
            </a:avLst>
          </a:prstGeom>
          <a:solidFill>
            <a:srgbClr val="E9DFCA"/>
          </a:solidFill>
          <a:ln w="12700">
            <a:solidFill>
              <a:srgbClr val="E9DFC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7328" y="4041648"/>
            <a:ext cx="45971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北府精兵</a:t>
            </a:r>
            <a:endParaRPr lang="zh-CN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4443984"/>
            <a:ext cx="459714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5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谢玄在广陵招募骁勇，以刘牢之等为前锋，“百战百胜，号为‘北府兵’，敌人畏之”。</a:t>
            </a:r>
            <a:endParaRPr lang="zh-CN" sz="1500" dirty="0"/>
          </a:p>
        </p:txBody>
      </p:sp>
      <p:sp>
        <p:nvSpPr>
          <p:cNvPr id="17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引文见《资治通鉴》卷一〇五、《晋书·刘牢之传》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 · 考证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tx2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考证与存疑</a:t>
            </a:r>
            <a:endParaRPr lang="zh-CN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1737360"/>
            <a:ext cx="5054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决战之日</a:t>
            </a:r>
            <a:endParaRPr lang="zh-CN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2103120"/>
            <a:ext cx="50543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《通鉴》系于十一月（公历383年12月11日以后）；《晋书·孝武帝纪》作“十月乙亥”，即11月30日。中华书局点校本校勘记以《通鉴》“较合当时情事”，沙盘从之。</a:t>
            </a:r>
            <a:endParaRPr lang="zh-CN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12902" y="3108960"/>
            <a:ext cx="5054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兵力之数</a:t>
            </a:r>
            <a:endParaRPr lang="zh-CN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12902" y="3474720"/>
            <a:ext cx="50543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秦军“戎卒六十余万，骑二十七万”、晋军“八万”皆为史书所载，淝水一线实数无考。梁成之众，《通鉴》《苻坚载记》作五万，《刘牢之传》作二万。</a:t>
            </a:r>
            <a:endParaRPr lang="zh-CN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2902" y="4480560"/>
            <a:ext cx="5054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地名今地</a:t>
            </a:r>
            <a:endParaRPr lang="zh-CN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2902" y="4846320"/>
            <a:ext cx="50543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寿阳即寿春（今寿县）；硖石在今凤台县东南硖山口；洛涧即今窑河—洛河；青冈确址无考，胡注仅云“去今寿春县三十里”，图中示意。</a:t>
            </a:r>
            <a:endParaRPr lang="zh-CN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324448" y="1737360"/>
            <a:ext cx="5054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版本异文</a:t>
            </a:r>
            <a:endParaRPr lang="zh-CN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24448" y="2103120"/>
            <a:ext cx="50543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本讲解所引《通鉴》据胡三省注本。他本或作“此亦劲敌”；“获秦王坚所乘云母车”下，十二行本多“及仪服、器械、军资、珍宝、畜产不可胜计”十五字。</a:t>
            </a:r>
            <a:endParaRPr lang="zh-CN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24448" y="3108960"/>
            <a:ext cx="5054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营址与路线</a:t>
            </a:r>
            <a:endParaRPr lang="zh-CN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324448" y="3474720"/>
            <a:ext cx="50543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史书只记大势。各部营址、队形与行军道路多据史文与地形推定；晋军大营按“去洛涧二十五里”（一晋里约435米）示意。</a:t>
            </a:r>
            <a:endParaRPr lang="zh-CN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324448" y="4480560"/>
            <a:ext cx="50543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兵俑与比例</a:t>
            </a:r>
            <a:endParaRPr lang="zh-CN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324448" y="4846320"/>
            <a:ext cx="50543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zh-CN" altLang="en-US" sz="1200" dirty="0">
                <a:solidFill>
                  <a:srgbClr val="4A3D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兵俑、舟船与旗帜都经过放大，数量不代表实际人数；地形垂直方向放大（全局 ×10，战场 ×5）。</a:t>
            </a:r>
            <a:endParaRPr lang="zh-CN" sz="1200" dirty="0"/>
          </a:p>
        </p:txBody>
      </p:sp>
      <p:sp>
        <p:nvSpPr>
          <p:cNvPr id="17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6B5A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沙盘中标注“约”或“示意”的位置，均属推定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5A4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2902" y="658368"/>
            <a:ext cx="10565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spc="200" kern="0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 · 出处</a:t>
            </a:r>
            <a:endParaRPr lang="zh-CN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2902" y="914400"/>
            <a:ext cx="105658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3200" dirty="0">
                <a:solidFill>
                  <a:schemeClr val="bg1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史料与沙盘</a:t>
            </a:r>
            <a:endParaRPr lang="zh-CN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1691640"/>
            <a:ext cx="50086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史料</a:t>
            </a:r>
            <a:endParaRPr lang="zh-CN" sz="1500" dirty="0"/>
          </a:p>
        </p:txBody>
      </p:sp>
      <p:sp>
        <p:nvSpPr>
          <p:cNvPr id="6" name="sources-list-1"/>
          <p:cNvSpPr txBox="1"/>
          <p:nvPr/>
        </p:nvSpPr>
        <p:spPr>
          <a:xfrm>
            <a:off x="812902" y="2148840"/>
            <a:ext cx="50086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司马光《资治通鉴》卷一〇四、一〇五（胡三省注）</a:t>
            </a:r>
            <a:endParaRPr lang="zh-CN" sz="15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《晋书》卷九《孝武帝纪》</a:t>
            </a:r>
            <a:endParaRPr lang="zh-CN" sz="15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《晋书》卷七十九《谢安传》《谢玄传》</a:t>
            </a:r>
            <a:endParaRPr lang="zh-CN" sz="15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《晋书》卷八十四《刘牢之传》</a:t>
            </a:r>
            <a:endParaRPr lang="zh-CN" sz="15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《晋书》卷一一四《苻坚载记》，附《王猛载记》</a:t>
            </a:r>
            <a:endParaRPr lang="zh-CN" sz="15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郦道元《水经注》卷三十二《肥水》</a:t>
            </a:r>
            <a:endParaRPr lang="zh-CN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370168" y="1691640"/>
            <a:ext cx="50086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chemeClr val="accent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沙盘</a:t>
            </a:r>
            <a:endParaRPr lang="zh-CN" sz="1500" dirty="0"/>
          </a:p>
        </p:txBody>
      </p:sp>
      <p:sp>
        <p:nvSpPr>
          <p:cNvPr id="8" name="sources-list-2"/>
          <p:cNvSpPr txBox="1"/>
          <p:nvPr/>
        </p:nvSpPr>
        <p:spPr>
          <a:xfrm>
            <a:off x="6370168" y="2148840"/>
            <a:ext cx="50086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文件：仓库中的 docs/index.html，单文件，离线可用</a:t>
            </a:r>
            <a:endParaRPr lang="zh-CN" sz="15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地形：AWS Terrain Tiles（SRTM 等高程数据）</a:t>
            </a:r>
            <a:endParaRPr lang="zh-CN" sz="15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水系：OpenStreetMap、Natural Earth，按东晋时期改绘</a:t>
            </a:r>
            <a:endParaRPr lang="zh-CN" sz="15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历日：东晋太元八年十月丙辰朔、十一月丙戌朔，公历为儒略历</a:t>
            </a:r>
            <a:endParaRPr lang="zh-CN" sz="15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zh-CN" altLang="en-US" sz="1500" dirty="0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字体：马善政楷书、思源宋体</a:t>
            </a:r>
            <a:endParaRPr lang="zh-CN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12902" y="5349240"/>
            <a:ext cx="500862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文本据维基文库所收各本，引文转为简体。</a:t>
            </a:r>
            <a:endParaRPr lang="zh-CN" sz="1200" dirty="0"/>
          </a:p>
        </p:txBody>
      </p:sp>
      <p:sp>
        <p:nvSpPr>
          <p:cNvPr id="10" name="Text 0"/>
          <p:cNvSpPr/>
          <p:nvPr>
            <p:ph idx="102" type="body" hasCustomPrompt="1"/>
          </p:nvPr>
        </p:nvSpPr>
        <p:spPr>
          <a:xfrm>
            <a:off x="812902" y="62179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CDBF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淝水之战 · 三维战场沙盘分节讲解</a:t>
            </a:r>
            <a:endParaRPr lang="zh-CN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4394" y="6217920"/>
            <a:ext cx="9144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DBFA5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淝水之战">
  <a:themeElements>
    <a:clrScheme name="淝水之战">
      <a:dk1>
        <a:srgbClr val="15110D"/>
      </a:dk1>
      <a:lt1>
        <a:srgbClr val="F1E9D8"/>
      </a:lt1>
      <a:dk2>
        <a:srgbClr val="2A2119"/>
      </a:dk2>
      <a:lt2>
        <a:srgbClr val="E6D9BF"/>
      </a:lt2>
      <a:accent1>
        <a:srgbClr val="A8322A"/>
      </a:accent1>
      <a:accent2>
        <a:srgbClr val="C9A35B"/>
      </a:accent2>
      <a:accent3>
        <a:srgbClr val="2C4A94"/>
      </a:accent3>
      <a:accent4>
        <a:srgbClr val="E8775C"/>
      </a:accent4>
      <a:accent5>
        <a:srgbClr val="93AAF0"/>
      </a:accent5>
      <a:accent6>
        <a:srgbClr val="7A5A22"/>
      </a:accent6>
      <a:hlink>
        <a:srgbClr val="A8322A"/>
      </a:hlink>
      <a:folHlink>
        <a:srgbClr val="7A5A22"/>
      </a:folHlink>
    </a:clrScheme>
    <a:fontScheme name="淝水之战">
      <a:majorFont>
        <a:latin typeface="KaiTi"/>
        <a:ea typeface="KaiTi"/>
        <a:cs typeface=""/>
        <a:font script="Jpan" typeface="游ゴシック Light"/>
        <a:font script="Hang" typeface="맑은 고딕"/>
        <a:font script="Hans" typeface="KaiT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淝水之战 · 三维沙盘分节讲解</dc:title>
  <dc:subject>淝水之战三维战场沙盘的十三个时间节点：画面、节拍、故事与原文</dc:subject>
  <dc:creator>Feishui_zhizhan</dc:creator>
  <cp:lastModifiedBy>Feishui_zhizhan</cp:lastModifiedBy>
  <cp:revision>1</cp:revision>
  <dcterms:created xsi:type="dcterms:W3CDTF">2026-10-15T16:10:07Z</dcterms:created>
  <dcterms:modified xsi:type="dcterms:W3CDTF">2026-10-15T16:10:07Z</dcterms:modified>
</cp:coreProperties>
</file>